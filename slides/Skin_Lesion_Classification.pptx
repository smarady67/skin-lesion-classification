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Work Sans Semi-Bold" charset="1" panose="00000000000000000000"/>
      <p:regular r:id="rId22"/>
    </p:embeddedFont>
    <p:embeddedFont>
      <p:font typeface="Work Sans" charset="1" panose="00000000000000000000"/>
      <p:regular r:id="rId23"/>
    </p:embeddedFont>
    <p:embeddedFont>
      <p:font typeface="Work Sans Bold" charset="1" panose="00000000000000000000"/>
      <p:regular r:id="rId24"/>
    </p:embeddedFont>
    <p:embeddedFont>
      <p:font typeface="Cambria" charset="1" panose="02040503050406030204"/>
      <p:regular r:id="rId25"/>
    </p:embeddedFont>
    <p:embeddedFont>
      <p:font typeface="Cambria Bold" charset="1" panose="02040803050406030204"/>
      <p:regular r:id="rId26"/>
    </p:embeddedFon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7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https://github.com/Smarady67/skin-lesion-classification.git" TargetMode="External" Type="http://schemas.openxmlformats.org/officeDocument/2006/relationships/hyperlink"/><Relationship Id="rId6" Target="https://github.com/Smarady67/skin-lesion-classification.git" TargetMode="External" Type="http://schemas.openxmlformats.org/officeDocument/2006/relationships/hyperlink"/><Relationship Id="rId7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pn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79285" y="6368581"/>
            <a:ext cx="8325353" cy="7191024"/>
          </a:xfrm>
          <a:custGeom>
            <a:avLst/>
            <a:gdLst/>
            <a:ahLst/>
            <a:cxnLst/>
            <a:rect r="r" b="b" t="t" l="l"/>
            <a:pathLst>
              <a:path h="7191024" w="8325353">
                <a:moveTo>
                  <a:pt x="0" y="0"/>
                </a:moveTo>
                <a:lnTo>
                  <a:pt x="8325353" y="0"/>
                </a:lnTo>
                <a:lnTo>
                  <a:pt x="8325353" y="7191024"/>
                </a:lnTo>
                <a:lnTo>
                  <a:pt x="0" y="7191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727180" y="-2739742"/>
            <a:ext cx="8325353" cy="7191024"/>
          </a:xfrm>
          <a:custGeom>
            <a:avLst/>
            <a:gdLst/>
            <a:ahLst/>
            <a:cxnLst/>
            <a:rect r="r" b="b" t="t" l="l"/>
            <a:pathLst>
              <a:path h="7191024" w="8325353">
                <a:moveTo>
                  <a:pt x="8325353" y="7191024"/>
                </a:moveTo>
                <a:lnTo>
                  <a:pt x="0" y="7191024"/>
                </a:lnTo>
                <a:lnTo>
                  <a:pt x="0" y="0"/>
                </a:lnTo>
                <a:lnTo>
                  <a:pt x="8325353" y="0"/>
                </a:lnTo>
                <a:lnTo>
                  <a:pt x="8325353" y="7191024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52547" y="1495132"/>
            <a:ext cx="5811297" cy="7496468"/>
            <a:chOff x="0" y="0"/>
            <a:chExt cx="828299" cy="10684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8299" cy="1068491"/>
            </a:xfrm>
            <a:custGeom>
              <a:avLst/>
              <a:gdLst/>
              <a:ahLst/>
              <a:cxnLst/>
              <a:rect r="r" b="b" t="t" l="l"/>
              <a:pathLst>
                <a:path h="1068491" w="828299">
                  <a:moveTo>
                    <a:pt x="79933" y="0"/>
                  </a:moveTo>
                  <a:lnTo>
                    <a:pt x="748366" y="0"/>
                  </a:lnTo>
                  <a:cubicBezTo>
                    <a:pt x="769566" y="0"/>
                    <a:pt x="789897" y="8422"/>
                    <a:pt x="804887" y="23412"/>
                  </a:cubicBezTo>
                  <a:cubicBezTo>
                    <a:pt x="819878" y="38402"/>
                    <a:pt x="828299" y="58734"/>
                    <a:pt x="828299" y="79933"/>
                  </a:cubicBezTo>
                  <a:lnTo>
                    <a:pt x="828299" y="988558"/>
                  </a:lnTo>
                  <a:cubicBezTo>
                    <a:pt x="828299" y="1032704"/>
                    <a:pt x="792512" y="1068491"/>
                    <a:pt x="748366" y="1068491"/>
                  </a:cubicBezTo>
                  <a:lnTo>
                    <a:pt x="79933" y="1068491"/>
                  </a:lnTo>
                  <a:cubicBezTo>
                    <a:pt x="58734" y="1068491"/>
                    <a:pt x="38402" y="1060070"/>
                    <a:pt x="23412" y="1045079"/>
                  </a:cubicBezTo>
                  <a:cubicBezTo>
                    <a:pt x="8422" y="1030089"/>
                    <a:pt x="0" y="1009758"/>
                    <a:pt x="0" y="988558"/>
                  </a:cubicBezTo>
                  <a:lnTo>
                    <a:pt x="0" y="79933"/>
                  </a:lnTo>
                  <a:cubicBezTo>
                    <a:pt x="0" y="58734"/>
                    <a:pt x="8422" y="38402"/>
                    <a:pt x="23412" y="23412"/>
                  </a:cubicBezTo>
                  <a:cubicBezTo>
                    <a:pt x="38402" y="8422"/>
                    <a:pt x="58734" y="0"/>
                    <a:pt x="79933" y="0"/>
                  </a:cubicBezTo>
                  <a:close/>
                </a:path>
              </a:pathLst>
            </a:custGeom>
            <a:blipFill>
              <a:blip r:embed="rId4"/>
              <a:stretch>
                <a:fillRect l="-47039" t="0" r="-4703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91038" y="4235450"/>
            <a:ext cx="8317299" cy="199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0"/>
              </a:lnSpc>
            </a:pPr>
            <a:r>
              <a:rPr lang="en-US" b="true" sz="8000" spc="-440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Skin Lesion </a:t>
            </a:r>
            <a:r>
              <a:rPr lang="en-US" b="true" sz="8000" spc="-440">
                <a:solidFill>
                  <a:srgbClr val="E4572E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Classification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91038" y="8982075"/>
            <a:ext cx="987552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AF2F4"/>
                </a:solidFill>
                <a:latin typeface="Work Sans"/>
                <a:ea typeface="Work Sans"/>
                <a:cs typeface="Work Sans"/>
                <a:sym typeface="Work Sans"/>
              </a:rPr>
              <a:t>Sokha Marady  |  Batch 13, Software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AF2F4"/>
                </a:solidFill>
                <a:latin typeface="Work Sans"/>
                <a:ea typeface="Work Sans"/>
                <a:cs typeface="Work Sans"/>
                <a:sym typeface="Work Sans"/>
              </a:rPr>
              <a:t>Lecturer: Mr. Soklong HIM  |  Deep Learning Final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91038" y="6230469"/>
            <a:ext cx="60756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Three deep-learning approaches on a 14-class image 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Problem and motivation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695450"/>
            <a:ext cx="165963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2A30"/>
                </a:solidFill>
                <a:latin typeface="Cambria"/>
                <a:ea typeface="Cambria"/>
                <a:cs typeface="Cambria"/>
                <a:sym typeface="Cambria"/>
              </a:rPr>
              <a:t>Given one photo of skin, predict which of 14 classes it shows.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3086100"/>
            <a:ext cx="5349240" cy="4114800"/>
            <a:chOff x="0" y="0"/>
            <a:chExt cx="7132320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323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266944"/>
                  </a:lnTo>
                  <a:cubicBezTo>
                    <a:pt x="7132320" y="5388102"/>
                    <a:pt x="7034022" y="5486400"/>
                    <a:pt x="6912864" y="5486400"/>
                  </a:cubicBezTo>
                  <a:lnTo>
                    <a:pt x="219456" y="5486400"/>
                  </a:lnTo>
                  <a:cubicBezTo>
                    <a:pt x="98298" y="5486400"/>
                    <a:pt x="0" y="5388102"/>
                    <a:pt x="0" y="526694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4440" y="3282315"/>
            <a:ext cx="164592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0B7A8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440" y="4653915"/>
            <a:ext cx="45262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Skin lesion types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440" y="5271135"/>
            <a:ext cx="452628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Melanoma, melanocytic nevi, basal cell and squamous cell carcinoma, actinic keratoses, benign keratosis-like, dermatofibroma, vascular lesions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46520" y="3086100"/>
            <a:ext cx="5349240" cy="4114800"/>
            <a:chOff x="0" y="0"/>
            <a:chExt cx="7132320" cy="548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23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266944"/>
                  </a:lnTo>
                  <a:cubicBezTo>
                    <a:pt x="7132320" y="5388102"/>
                    <a:pt x="7034022" y="5486400"/>
                    <a:pt x="6912864" y="5486400"/>
                  </a:cubicBezTo>
                  <a:lnTo>
                    <a:pt x="219456" y="5486400"/>
                  </a:lnTo>
                  <a:cubicBezTo>
                    <a:pt x="98298" y="5486400"/>
                    <a:pt x="0" y="5388102"/>
                    <a:pt x="0" y="526694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58000" y="3282315"/>
            <a:ext cx="164592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0B7A8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8000" y="4653915"/>
            <a:ext cx="45262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Viral skin diseases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58000" y="5271135"/>
            <a:ext cx="452628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Chickenpox, cowpox, HFMD, measles, monkeypox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70080" y="3086100"/>
            <a:ext cx="5349240" cy="4114800"/>
            <a:chOff x="0" y="0"/>
            <a:chExt cx="7132320" cy="548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266944"/>
                  </a:lnTo>
                  <a:cubicBezTo>
                    <a:pt x="7132320" y="5388102"/>
                    <a:pt x="7034022" y="5486400"/>
                    <a:pt x="6912864" y="5486400"/>
                  </a:cubicBezTo>
                  <a:lnTo>
                    <a:pt x="219456" y="5486400"/>
                  </a:lnTo>
                  <a:cubicBezTo>
                    <a:pt x="98298" y="5486400"/>
                    <a:pt x="0" y="5388102"/>
                    <a:pt x="0" y="526694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81560" y="3282315"/>
            <a:ext cx="164592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0B7A8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81560" y="4653915"/>
            <a:ext cx="45262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Healthy skin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81560" y="5271135"/>
            <a:ext cx="452628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Normal skin, so the model can say "nothing here"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7543800"/>
            <a:ext cx="16596360" cy="1577340"/>
            <a:chOff x="0" y="0"/>
            <a:chExt cx="22128480" cy="2103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1883664"/>
                  </a:lnTo>
                  <a:cubicBezTo>
                    <a:pt x="22128480" y="2004822"/>
                    <a:pt x="22030182" y="2103120"/>
                    <a:pt x="21909024" y="2103120"/>
                  </a:cubicBezTo>
                  <a:lnTo>
                    <a:pt x="219456" y="2103120"/>
                  </a:lnTo>
                  <a:cubicBezTo>
                    <a:pt x="98298" y="2103120"/>
                    <a:pt x="0" y="2004822"/>
                    <a:pt x="0" y="188366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44540" y="7272442"/>
            <a:ext cx="13816040" cy="2120057"/>
            <a:chOff x="0" y="0"/>
            <a:chExt cx="18421386" cy="28267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421386" cy="2826742"/>
            </a:xfrm>
            <a:custGeom>
              <a:avLst/>
              <a:gdLst/>
              <a:ahLst/>
              <a:cxnLst/>
              <a:rect r="r" b="b" t="t" l="l"/>
              <a:pathLst>
                <a:path h="2826742" w="18421386">
                  <a:moveTo>
                    <a:pt x="0" y="0"/>
                  </a:moveTo>
                  <a:lnTo>
                    <a:pt x="18421386" y="0"/>
                  </a:lnTo>
                  <a:lnTo>
                    <a:pt x="18421386" y="2826742"/>
                  </a:lnTo>
                  <a:lnTo>
                    <a:pt x="0" y="28267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69" r="-14167" b="-821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8421386" cy="2836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Research question: how much does pretrained knowledge help, compared with training a network from scratch?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824960" y="9627870"/>
            <a:ext cx="5029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Dataset and split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704975"/>
            <a:ext cx="127468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30"/>
                </a:solidFill>
                <a:latin typeface="Cambria"/>
                <a:ea typeface="Cambria"/>
                <a:cs typeface="Cambria"/>
                <a:sym typeface="Cambria"/>
              </a:rPr>
              <a:t>Kaggle dataset ahmedxc4/skin-ds: 36,656 images, 14 classes, official train / val / test folders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3154680"/>
            <a:ext cx="5349240" cy="3291840"/>
            <a:chOff x="0" y="0"/>
            <a:chExt cx="7132320" cy="4389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1055" y="3884295"/>
            <a:ext cx="534924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29,322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5055870"/>
            <a:ext cx="53492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Train  (80%)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46520" y="3154680"/>
            <a:ext cx="5349240" cy="3291840"/>
            <a:chOff x="0" y="0"/>
            <a:chExt cx="7132320" cy="4389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0B3C4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446520" y="3884295"/>
            <a:ext cx="534924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3,660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46520" y="5055870"/>
            <a:ext cx="53492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Validation  (10%)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70080" y="3154680"/>
            <a:ext cx="5349240" cy="3291840"/>
            <a:chOff x="0" y="0"/>
            <a:chExt cx="7132320" cy="4389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E4572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71985" y="3884295"/>
            <a:ext cx="534924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3,674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70080" y="5055870"/>
            <a:ext cx="53492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Test  (10%)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960" y="6976110"/>
            <a:ext cx="165963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A30"/>
                </a:solidFill>
                <a:latin typeface="Cambria"/>
                <a:ea typeface="Cambria"/>
                <a:cs typeface="Cambria"/>
                <a:sym typeface="Cambria"/>
              </a:rPr>
              <a:t>Loaded with torchvision ImageFolder from the official folders as provided; we did not re-split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B2A30"/>
                </a:solidFill>
                <a:latin typeface="Cambria"/>
                <a:ea typeface="Cambria"/>
                <a:cs typeface="Cambria"/>
                <a:sym typeface="Cambria"/>
              </a:rPr>
              <a:t>All images resized to 224 x 224; test images use the same preprocessing as validation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24960" y="9627870"/>
            <a:ext cx="5029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Heavy class imbalance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057400"/>
            <a:ext cx="6309360" cy="3566160"/>
            <a:chOff x="0" y="0"/>
            <a:chExt cx="8412480" cy="4754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124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8412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193024" y="0"/>
                  </a:lnTo>
                  <a:cubicBezTo>
                    <a:pt x="8314182" y="0"/>
                    <a:pt x="8412480" y="98298"/>
                    <a:pt x="8412480" y="219456"/>
                  </a:cubicBezTo>
                  <a:lnTo>
                    <a:pt x="8412480" y="4535424"/>
                  </a:lnTo>
                  <a:cubicBezTo>
                    <a:pt x="8412480" y="4656582"/>
                    <a:pt x="8314182" y="4754880"/>
                    <a:pt x="819302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2769870"/>
            <a:ext cx="630936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 b="true">
                <a:solidFill>
                  <a:srgbClr val="0B7A8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10,300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4036695"/>
            <a:ext cx="630936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Melanocytic nevi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(train images)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32320" y="3223260"/>
            <a:ext cx="3977640" cy="1097280"/>
            <a:chOff x="0" y="0"/>
            <a:chExt cx="5303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03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3035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4572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about 54x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132320" y="4242435"/>
            <a:ext cx="3977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6B7F86"/>
                </a:solidFill>
                <a:latin typeface="Work Sans"/>
                <a:ea typeface="Work Sans"/>
                <a:cs typeface="Work Sans"/>
                <a:sym typeface="Work Sans"/>
              </a:rPr>
              <a:t>more images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09960" y="2057400"/>
            <a:ext cx="6309360" cy="3566160"/>
            <a:chOff x="0" y="0"/>
            <a:chExt cx="8412480" cy="4754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124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8412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193024" y="0"/>
                  </a:lnTo>
                  <a:cubicBezTo>
                    <a:pt x="8314182" y="0"/>
                    <a:pt x="8412480" y="98298"/>
                    <a:pt x="8412480" y="219456"/>
                  </a:cubicBezTo>
                  <a:lnTo>
                    <a:pt x="8412480" y="4535424"/>
                  </a:lnTo>
                  <a:cubicBezTo>
                    <a:pt x="8412480" y="4656582"/>
                    <a:pt x="8314182" y="4754880"/>
                    <a:pt x="819302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109960" y="2769870"/>
            <a:ext cx="630936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 b="true">
                <a:solidFill>
                  <a:srgbClr val="E4572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191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9960" y="4036695"/>
            <a:ext cx="630936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Dermatofibroma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(train images)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6172200"/>
            <a:ext cx="8161020" cy="3017520"/>
            <a:chOff x="0" y="0"/>
            <a:chExt cx="10881360" cy="4023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813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3803904"/>
                  </a:lnTo>
                  <a:cubicBezTo>
                    <a:pt x="10881361" y="3925062"/>
                    <a:pt x="10783062" y="4023360"/>
                    <a:pt x="10661904" y="4023360"/>
                  </a:cubicBezTo>
                  <a:lnTo>
                    <a:pt x="219456" y="4023360"/>
                  </a:lnTo>
                  <a:cubicBezTo>
                    <a:pt x="98298" y="4023360"/>
                    <a:pt x="0" y="3925062"/>
                    <a:pt x="0" y="3803904"/>
                  </a:cubicBezTo>
                  <a:close/>
                </a:path>
              </a:pathLst>
            </a:custGeom>
            <a:solidFill>
              <a:srgbClr val="0B3C4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4440" y="6675120"/>
            <a:ext cx="7406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Weighted cross-entropy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4440" y="7250430"/>
            <a:ext cx="644970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Rare classes count more in the loss, so the model cannot ignore them.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58300" y="6172200"/>
            <a:ext cx="8161020" cy="3017520"/>
            <a:chOff x="0" y="0"/>
            <a:chExt cx="10881360" cy="4023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813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3803904"/>
                  </a:lnTo>
                  <a:cubicBezTo>
                    <a:pt x="10881361" y="3925062"/>
                    <a:pt x="10783062" y="4023360"/>
                    <a:pt x="10661904" y="4023360"/>
                  </a:cubicBezTo>
                  <a:lnTo>
                    <a:pt x="219456" y="4023360"/>
                  </a:lnTo>
                  <a:cubicBezTo>
                    <a:pt x="98298" y="4023360"/>
                    <a:pt x="0" y="3925062"/>
                    <a:pt x="0" y="3803904"/>
                  </a:cubicBezTo>
                  <a:close/>
                </a:path>
              </a:pathLst>
            </a:custGeom>
            <a:solidFill>
              <a:srgbClr val="0B3C49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635490" y="6675120"/>
            <a:ext cx="7406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Macro-F1 as the main metric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69780" y="7250430"/>
            <a:ext cx="653670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Every class counts equally, unlike accuracy, which the big classes dominate.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824960" y="9627870"/>
            <a:ext cx="5029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824865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Three approaches compared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125980"/>
            <a:ext cx="5349240" cy="6995160"/>
            <a:chOff x="0" y="0"/>
            <a:chExt cx="7132320" cy="932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32320" cy="9326880"/>
            </a:xfrm>
            <a:custGeom>
              <a:avLst/>
              <a:gdLst/>
              <a:ahLst/>
              <a:cxnLst/>
              <a:rect r="r" b="b" t="t" l="l"/>
              <a:pathLst>
                <a:path h="93268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9107424"/>
                  </a:lnTo>
                  <a:cubicBezTo>
                    <a:pt x="7132320" y="9228582"/>
                    <a:pt x="7034022" y="9326880"/>
                    <a:pt x="6912864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4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53746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537460"/>
            <a:ext cx="754380" cy="754380"/>
            <a:chOff x="0" y="0"/>
            <a:chExt cx="1005840" cy="100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4440" y="3625215"/>
            <a:ext cx="452628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B3C49"/>
                </a:solidFill>
                <a:latin typeface="Cambria Bold"/>
                <a:ea typeface="Cambria Bold"/>
                <a:cs typeface="Cambria Bold"/>
                <a:sym typeface="Cambria Bold"/>
              </a:rPr>
              <a:t>Custom CNN from scratch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4928235"/>
            <a:ext cx="45262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B7A8A"/>
                </a:solidFill>
                <a:latin typeface="Cambria Bold"/>
                <a:ea typeface="Cambria Bold"/>
                <a:cs typeface="Cambria Bold"/>
                <a:sym typeface="Cambria Bold"/>
              </a:rPr>
              <a:t>392,974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4440" y="5850255"/>
            <a:ext cx="452628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trainable parameters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440" y="6682740"/>
            <a:ext cx="4526280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Small CNN, random start. Learns everything from skin images only.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46520" y="2125980"/>
            <a:ext cx="5349240" cy="6995160"/>
            <a:chOff x="0" y="0"/>
            <a:chExt cx="7132320" cy="932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9326880"/>
            </a:xfrm>
            <a:custGeom>
              <a:avLst/>
              <a:gdLst/>
              <a:ahLst/>
              <a:cxnLst/>
              <a:rect r="r" b="b" t="t" l="l"/>
              <a:pathLst>
                <a:path h="93268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9107424"/>
                  </a:lnTo>
                  <a:cubicBezTo>
                    <a:pt x="7132320" y="9228582"/>
                    <a:pt x="7034022" y="9326880"/>
                    <a:pt x="6912864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4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58000" y="2537460"/>
            <a:ext cx="754380" cy="754380"/>
            <a:chOff x="0" y="0"/>
            <a:chExt cx="100584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58000" y="253746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858000" y="3625215"/>
            <a:ext cx="452628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B3C49"/>
                </a:solidFill>
                <a:latin typeface="Cambria Bold"/>
                <a:ea typeface="Cambria Bold"/>
                <a:cs typeface="Cambria Bold"/>
                <a:sym typeface="Cambria Bold"/>
              </a:rPr>
              <a:t>ResNet-18, frozen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58000" y="4928235"/>
            <a:ext cx="45262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B7A8A"/>
                </a:solidFill>
                <a:latin typeface="Cambria Bold"/>
                <a:ea typeface="Cambria Bold"/>
                <a:cs typeface="Cambria Bold"/>
                <a:sym typeface="Cambria Bold"/>
              </a:rPr>
              <a:t>7,182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58000" y="5850255"/>
            <a:ext cx="452628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trainable parameters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58000" y="6682740"/>
            <a:ext cx="4526280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ImageNet weights kept fixed. Only the final linear layer is trained (linear probe).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070080" y="2125980"/>
            <a:ext cx="5349240" cy="6995160"/>
            <a:chOff x="0" y="0"/>
            <a:chExt cx="7132320" cy="9326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32320" cy="9326880"/>
            </a:xfrm>
            <a:custGeom>
              <a:avLst/>
              <a:gdLst/>
              <a:ahLst/>
              <a:cxnLst/>
              <a:rect r="r" b="b" t="t" l="l"/>
              <a:pathLst>
                <a:path h="93268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9107424"/>
                  </a:lnTo>
                  <a:cubicBezTo>
                    <a:pt x="7132320" y="9228582"/>
                    <a:pt x="7034022" y="9326880"/>
                    <a:pt x="6912864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42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481560" y="2537460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81560" y="2537460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481560" y="3625215"/>
            <a:ext cx="452628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ResNet-18, fine-tuned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81560" y="4928235"/>
            <a:ext cx="45262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11,183,694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81560" y="5850255"/>
            <a:ext cx="452628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trainable parameters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81560" y="6682740"/>
            <a:ext cx="4526280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ImageNet weights as the starting point. Every layer is trained at a low learning rate.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75819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Experimental setup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2125980"/>
          <a:ext cx="10115550" cy="4191000"/>
        </p:xfrm>
        <a:graphic>
          <a:graphicData uri="http://schemas.openxmlformats.org/drawingml/2006/table">
            <a:tbl>
              <a:tblPr/>
              <a:tblGrid>
                <a:gridCol w="3137172"/>
                <a:gridCol w="2055777"/>
                <a:gridCol w="2326126"/>
                <a:gridCol w="2596475"/>
              </a:tblGrid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Setting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CNN scratch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ResNet frozen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ResNet fine-tuned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Learning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Weight decay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Max epochs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Training time (min)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160.6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98.0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99.9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521440" y="2125980"/>
            <a:ext cx="5897880" cy="4251960"/>
            <a:chOff x="0" y="0"/>
            <a:chExt cx="7863840" cy="5669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384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8638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644384" y="0"/>
                  </a:lnTo>
                  <a:cubicBezTo>
                    <a:pt x="7765542" y="0"/>
                    <a:pt x="7863840" y="98298"/>
                    <a:pt x="7863840" y="219456"/>
                  </a:cubicBezTo>
                  <a:lnTo>
                    <a:pt x="7863840" y="5449824"/>
                  </a:lnTo>
                  <a:cubicBezTo>
                    <a:pt x="7863840" y="5570982"/>
                    <a:pt x="7765542" y="5669280"/>
                    <a:pt x="7644384" y="5669280"/>
                  </a:cubicBezTo>
                  <a:lnTo>
                    <a:pt x="219456" y="5669280"/>
                  </a:lnTo>
                  <a:cubicBezTo>
                    <a:pt x="98298" y="5669280"/>
                    <a:pt x="0" y="5570982"/>
                    <a:pt x="0" y="54498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932920" y="2274570"/>
            <a:ext cx="52120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Shared by all three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32920" y="2960370"/>
            <a:ext cx="5212080" cy="321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Adam optimiser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ReduceLROnPlateau scheduler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size 32, input 224 x 224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cross-entropy, seed 42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2960" y="6995160"/>
            <a:ext cx="8229600" cy="2194560"/>
            <a:chOff x="0" y="0"/>
            <a:chExt cx="10972800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753344" y="0"/>
                  </a:lnTo>
                  <a:cubicBezTo>
                    <a:pt x="10874502" y="0"/>
                    <a:pt x="10972800" y="98298"/>
                    <a:pt x="10972800" y="219456"/>
                  </a:cubicBezTo>
                  <a:lnTo>
                    <a:pt x="10972800" y="2706624"/>
                  </a:lnTo>
                  <a:cubicBezTo>
                    <a:pt x="10972800" y="2827782"/>
                    <a:pt x="10874502" y="2926080"/>
                    <a:pt x="10753344" y="2926080"/>
                  </a:cubicBezTo>
                  <a:lnTo>
                    <a:pt x="219456" y="2926080"/>
                  </a:lnTo>
                  <a:cubicBezTo>
                    <a:pt x="98298" y="2926080"/>
                    <a:pt x="0" y="2827782"/>
                    <a:pt x="0" y="27066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34440" y="7143750"/>
            <a:ext cx="740664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checkpoint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7760970"/>
            <a:ext cx="740664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Saved at the lowest validation loss, then evaluated once on the test set.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26880" y="6995160"/>
            <a:ext cx="8092440" cy="2194560"/>
            <a:chOff x="0" y="0"/>
            <a:chExt cx="10789920" cy="2926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899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706624"/>
                  </a:lnTo>
                  <a:cubicBezTo>
                    <a:pt x="10789920" y="2827782"/>
                    <a:pt x="10691622" y="2926080"/>
                    <a:pt x="10570464" y="2926080"/>
                  </a:cubicBezTo>
                  <a:lnTo>
                    <a:pt x="219456" y="2926080"/>
                  </a:lnTo>
                  <a:cubicBezTo>
                    <a:pt x="98298" y="2926080"/>
                    <a:pt x="0" y="2827782"/>
                    <a:pt x="0" y="27066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738360" y="7143750"/>
            <a:ext cx="72694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Metrics and hardware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8360" y="7760970"/>
            <a:ext cx="726948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Accuracy, macro-F1, macro-precision, macro-recall. Tesla T4 GPU, PyTorch.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Hyperparameter tuning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19456" y="1014984"/>
            <a:ext cx="12508992" cy="921715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1795760" y="2057400"/>
            <a:ext cx="5623560" cy="7132320"/>
            <a:chOff x="0" y="0"/>
            <a:chExt cx="7498080" cy="9509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98080" cy="9509761"/>
            </a:xfrm>
            <a:custGeom>
              <a:avLst/>
              <a:gdLst/>
              <a:ahLst/>
              <a:cxnLst/>
              <a:rect r="r" b="b" t="t" l="l"/>
              <a:pathLst>
                <a:path h="9509761" w="7498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278624" y="0"/>
                  </a:lnTo>
                  <a:cubicBezTo>
                    <a:pt x="7399782" y="0"/>
                    <a:pt x="7498080" y="98298"/>
                    <a:pt x="7498080" y="219456"/>
                  </a:cubicBezTo>
                  <a:lnTo>
                    <a:pt x="7498080" y="9290304"/>
                  </a:lnTo>
                  <a:cubicBezTo>
                    <a:pt x="7498080" y="9411462"/>
                    <a:pt x="7399782" y="9509761"/>
                    <a:pt x="7278624" y="9509761"/>
                  </a:cubicBezTo>
                  <a:lnTo>
                    <a:pt x="219456" y="9509761"/>
                  </a:lnTo>
                  <a:cubicBezTo>
                    <a:pt x="98298" y="9509760"/>
                    <a:pt x="0" y="9411462"/>
                    <a:pt x="0" y="929030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07240" y="2265045"/>
            <a:ext cx="480060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we learned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07240" y="3116580"/>
            <a:ext cx="4800600" cy="483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Best: lr 1e-4 with weight decay 1e-4 (0.722)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Removing weight decay lowered the score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A smaller lr of 1e-5 learned too slowly in 3 epochs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708" y="826793"/>
            <a:ext cx="16596360" cy="1061695"/>
            <a:chOff x="0" y="0"/>
            <a:chExt cx="22128480" cy="1415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415593"/>
            </a:xfrm>
            <a:custGeom>
              <a:avLst/>
              <a:gdLst/>
              <a:ahLst/>
              <a:cxnLst/>
              <a:rect r="r" b="b" t="t" l="l"/>
              <a:pathLst>
                <a:path h="1415593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15593"/>
                  </a:lnTo>
                  <a:lnTo>
                    <a:pt x="0" y="14155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453" r="0" b="-2627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4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Results on the test set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2331720"/>
          <a:ext cx="16516350" cy="4133850"/>
        </p:xfrm>
        <a:graphic>
          <a:graphicData uri="http://schemas.openxmlformats.org/drawingml/2006/table">
            <a:tbl>
              <a:tblPr/>
              <a:tblGrid>
                <a:gridCol w="3939422"/>
                <a:gridCol w="1916324"/>
                <a:gridCol w="1916324"/>
                <a:gridCol w="2051197"/>
                <a:gridCol w="2186070"/>
                <a:gridCol w="2590690"/>
                <a:gridCol w="1916324"/>
              </a:tblGrid>
              <a:tr h="8850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Approach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Macro-F1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Macro-Prec.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Macro-Recall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Trainable params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Time (min)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1082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 CNN from scratch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0.5822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0.5053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392,974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160.6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2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 ResNet-18 frozen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0.6184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0.5415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0.5179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0.6074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7,182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98.0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2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3. ResNet-18 fine-tuned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0.8419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0.8330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0.8117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0.8607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11,183,694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99.9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22960" y="6858000"/>
            <a:ext cx="5349240" cy="2331720"/>
            <a:chOff x="0" y="0"/>
            <a:chExt cx="7132320" cy="3108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323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2889504"/>
                  </a:lnTo>
                  <a:cubicBezTo>
                    <a:pt x="7132320" y="3010662"/>
                    <a:pt x="7034022" y="3108960"/>
                    <a:pt x="691286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2960" y="7054215"/>
            <a:ext cx="53492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7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+22 pts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8260080"/>
            <a:ext cx="534924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vs frozen ResNet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46520" y="6858000"/>
            <a:ext cx="5349240" cy="2331720"/>
            <a:chOff x="0" y="0"/>
            <a:chExt cx="7132320" cy="310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323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2889504"/>
                  </a:lnTo>
                  <a:cubicBezTo>
                    <a:pt x="7132320" y="3010662"/>
                    <a:pt x="7034022" y="3108960"/>
                    <a:pt x="691286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446520" y="7054215"/>
            <a:ext cx="53492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7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+29 pts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46520" y="8260080"/>
            <a:ext cx="534924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macro-F1 vs frozen ResNet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70080" y="6858000"/>
            <a:ext cx="5349240" cy="2331720"/>
            <a:chOff x="0" y="0"/>
            <a:chExt cx="7132320" cy="3108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23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2889504"/>
                  </a:lnTo>
                  <a:cubicBezTo>
                    <a:pt x="7132320" y="3010662"/>
                    <a:pt x="7034022" y="3108960"/>
                    <a:pt x="691286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0B3C4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70080" y="7054215"/>
            <a:ext cx="53492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sz="57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~100 min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70080" y="8260080"/>
            <a:ext cx="534924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same cost as frozen on a T4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6735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Fine-tuning clearly wins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057400"/>
            <a:ext cx="10753344" cy="6720840"/>
            <a:chOff x="0" y="0"/>
            <a:chExt cx="14337792" cy="8961120"/>
          </a:xfrm>
        </p:grpSpPr>
        <p:sp>
          <p:nvSpPr>
            <p:cNvPr name="Freeform 6" id="6" descr="Bar chart of test accuracy and macro-F1 for the three approaches"/>
            <p:cNvSpPr/>
            <p:nvPr/>
          </p:nvSpPr>
          <p:spPr>
            <a:xfrm flipH="false" flipV="false" rot="0">
              <a:off x="0" y="0"/>
              <a:ext cx="14337792" cy="8961120"/>
            </a:xfrm>
            <a:custGeom>
              <a:avLst/>
              <a:gdLst/>
              <a:ahLst/>
              <a:cxnLst/>
              <a:rect r="r" b="b" t="t" l="l"/>
              <a:pathLst>
                <a:path h="8961120" w="14337792">
                  <a:moveTo>
                    <a:pt x="0" y="0"/>
                  </a:moveTo>
                  <a:lnTo>
                    <a:pt x="14337792" y="0"/>
                  </a:lnTo>
                  <a:lnTo>
                    <a:pt x="14337792" y="8961120"/>
                  </a:lnTo>
                  <a:lnTo>
                    <a:pt x="0" y="896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8877300"/>
            <a:ext cx="1075334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Figure: test accuracy and macro-F1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70080" y="2057400"/>
            <a:ext cx="5349240" cy="6720840"/>
            <a:chOff x="0" y="0"/>
            <a:chExt cx="7132320" cy="896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2320" cy="8961120"/>
            </a:xfrm>
            <a:custGeom>
              <a:avLst/>
              <a:gdLst/>
              <a:ahLst/>
              <a:cxnLst/>
              <a:rect r="r" b="b" t="t" l="l"/>
              <a:pathLst>
                <a:path h="8961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8741664"/>
                  </a:lnTo>
                  <a:cubicBezTo>
                    <a:pt x="7132320" y="8862822"/>
                    <a:pt x="7034022" y="8961120"/>
                    <a:pt x="6912864" y="8961120"/>
                  </a:cubicBezTo>
                  <a:lnTo>
                    <a:pt x="219456" y="8961120"/>
                  </a:lnTo>
                  <a:cubicBezTo>
                    <a:pt x="98298" y="8961120"/>
                    <a:pt x="0" y="8862822"/>
                    <a:pt x="0" y="874166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412980" y="2362200"/>
            <a:ext cx="4663440" cy="607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Fine-tuned: 0.842 accuracy, 0.833 macro-F1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Frozen and scratch models both stay near 0.6 accuracy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The scratch CNN was the slowest to train (160.6 min)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The fine-tuned model has a small gap between accuracy and macro-F1, so rare classes are handled better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Learning curves: overfitting and underfitting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920240"/>
            <a:ext cx="16596360" cy="4608576"/>
            <a:chOff x="0" y="0"/>
            <a:chExt cx="22128480" cy="6144768"/>
          </a:xfrm>
        </p:grpSpPr>
        <p:sp>
          <p:nvSpPr>
            <p:cNvPr name="Freeform 6" id="6" descr="Training loss, validation loss and validation macro-F1 curves for the three approaches"/>
            <p:cNvSpPr/>
            <p:nvPr/>
          </p:nvSpPr>
          <p:spPr>
            <a:xfrm flipH="false" flipV="false" rot="0">
              <a:off x="0" y="0"/>
              <a:ext cx="22128480" cy="6144768"/>
            </a:xfrm>
            <a:custGeom>
              <a:avLst/>
              <a:gdLst/>
              <a:ahLst/>
              <a:cxnLst/>
              <a:rect r="r" b="b" t="t" l="l"/>
              <a:pathLst>
                <a:path h="61447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0"/>
            <a:ext cx="5349240" cy="2537460"/>
            <a:chOff x="0" y="0"/>
            <a:chExt cx="7132320" cy="3383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32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3163824"/>
                  </a:lnTo>
                  <a:cubicBezTo>
                    <a:pt x="7132320" y="3284982"/>
                    <a:pt x="7034022" y="3383280"/>
                    <a:pt x="691286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5860" y="6984492"/>
            <a:ext cx="466344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CNN scratch: underfitting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5860" y="7564755"/>
            <a:ext cx="466344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Loss is still falling at the end, so it is undertrained or capacity-limited.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46520" y="6858000"/>
            <a:ext cx="5349240" cy="2537460"/>
            <a:chOff x="0" y="0"/>
            <a:chExt cx="7132320" cy="3383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2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3163824"/>
                  </a:lnTo>
                  <a:cubicBezTo>
                    <a:pt x="7132320" y="3284982"/>
                    <a:pt x="7034022" y="3383280"/>
                    <a:pt x="691286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789420" y="6984492"/>
            <a:ext cx="466344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Frozen ResNet: plateau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89420" y="7564755"/>
            <a:ext cx="466344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Plateaus early with a noisy validation curve. Limited by the fixed features.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70080" y="6858000"/>
            <a:ext cx="5349240" cy="2537460"/>
            <a:chOff x="0" y="0"/>
            <a:chExt cx="7132320" cy="3383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32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3163824"/>
                  </a:lnTo>
                  <a:cubicBezTo>
                    <a:pt x="7132320" y="3284982"/>
                    <a:pt x="7034022" y="3383280"/>
                    <a:pt x="691286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412980" y="6984492"/>
            <a:ext cx="466344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Fine-tuned: mild overfitting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12980" y="7564755"/>
            <a:ext cx="466344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Train loss 0.23 vs val loss 0.44. Val loss is still lowest at the saved best epoch.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Error analysis: confusion matrix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988820"/>
            <a:ext cx="9052560" cy="7242048"/>
            <a:chOff x="0" y="0"/>
            <a:chExt cx="12070080" cy="9656064"/>
          </a:xfrm>
        </p:grpSpPr>
        <p:sp>
          <p:nvSpPr>
            <p:cNvPr name="Freeform 6" id="6" descr="Confusion matrix of the fine-tuned ResNet-18 on the test set"/>
            <p:cNvSpPr/>
            <p:nvPr/>
          </p:nvSpPr>
          <p:spPr>
            <a:xfrm flipH="false" flipV="false" rot="0">
              <a:off x="0" y="0"/>
              <a:ext cx="12070080" cy="9656064"/>
            </a:xfrm>
            <a:custGeom>
              <a:avLst/>
              <a:gdLst/>
              <a:ahLst/>
              <a:cxnLst/>
              <a:rect r="r" b="b" t="t" l="l"/>
              <a:pathLst>
                <a:path h="9656064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9656064"/>
                  </a:lnTo>
                  <a:lnTo>
                    <a:pt x="0" y="9656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424160" y="1988820"/>
            <a:ext cx="6995160" cy="2331720"/>
            <a:chOff x="0" y="0"/>
            <a:chExt cx="9326880" cy="3108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26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9326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107424" y="0"/>
                  </a:lnTo>
                  <a:cubicBezTo>
                    <a:pt x="9228582" y="0"/>
                    <a:pt x="9326880" y="98298"/>
                    <a:pt x="9326880" y="219456"/>
                  </a:cubicBezTo>
                  <a:lnTo>
                    <a:pt x="9326880" y="2889504"/>
                  </a:lnTo>
                  <a:cubicBezTo>
                    <a:pt x="9326880" y="3010662"/>
                    <a:pt x="9228582" y="3108960"/>
                    <a:pt x="910742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E4572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67060" y="2109978"/>
            <a:ext cx="63093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Nevi and melanoma mix 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67060" y="2754630"/>
            <a:ext cx="630936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124 nevi predicted as melanoma, 75 melanoma predicted as nevi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24160" y="4594860"/>
            <a:ext cx="6995160" cy="2194560"/>
            <a:chOff x="0" y="0"/>
            <a:chExt cx="932688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26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9326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107424" y="0"/>
                  </a:lnTo>
                  <a:cubicBezTo>
                    <a:pt x="9228582" y="0"/>
                    <a:pt x="9326880" y="98298"/>
                    <a:pt x="9326880" y="219456"/>
                  </a:cubicBezTo>
                  <a:lnTo>
                    <a:pt x="9326880" y="2706624"/>
                  </a:lnTo>
                  <a:cubicBezTo>
                    <a:pt x="9326880" y="2827782"/>
                    <a:pt x="9228582" y="2926080"/>
                    <a:pt x="9107424" y="2926080"/>
                  </a:cubicBezTo>
                  <a:lnTo>
                    <a:pt x="219456" y="2926080"/>
                  </a:lnTo>
                  <a:cubicBezTo>
                    <a:pt x="98298" y="2926080"/>
                    <a:pt x="0" y="2827782"/>
                    <a:pt x="0" y="27066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67060" y="4716018"/>
            <a:ext cx="63093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Actinic keratoses (F1 0.57)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67060" y="5360670"/>
            <a:ext cx="630936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Only 50 of 88 correct; the rest spread to basal cell, benign keratosis, SCC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24160" y="7063740"/>
            <a:ext cx="6995160" cy="2167128"/>
            <a:chOff x="0" y="0"/>
            <a:chExt cx="9326880" cy="28895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26880" cy="2889504"/>
            </a:xfrm>
            <a:custGeom>
              <a:avLst/>
              <a:gdLst/>
              <a:ahLst/>
              <a:cxnLst/>
              <a:rect r="r" b="b" t="t" l="l"/>
              <a:pathLst>
                <a:path h="2889504" w="9326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107424" y="0"/>
                  </a:lnTo>
                  <a:cubicBezTo>
                    <a:pt x="9228582" y="0"/>
                    <a:pt x="9326880" y="98298"/>
                    <a:pt x="9326880" y="219456"/>
                  </a:cubicBezTo>
                  <a:lnTo>
                    <a:pt x="9326880" y="2670048"/>
                  </a:lnTo>
                  <a:cubicBezTo>
                    <a:pt x="9326880" y="2791206"/>
                    <a:pt x="9228582" y="2889504"/>
                    <a:pt x="9107424" y="2889504"/>
                  </a:cubicBezTo>
                  <a:lnTo>
                    <a:pt x="219456" y="2889504"/>
                  </a:lnTo>
                  <a:cubicBezTo>
                    <a:pt x="98298" y="2889504"/>
                    <a:pt x="0" y="2791206"/>
                    <a:pt x="0" y="2670048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67060" y="7184898"/>
            <a:ext cx="63093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Viral classes are strong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7060" y="7829550"/>
            <a:ext cx="63093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Chickenpox, cowpox, HFMD, measles, monkeypox and healthy: F1 0.96 to 0.99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80263"/>
            <a:ext cx="9577228" cy="1627632"/>
            <a:chOff x="0" y="0"/>
            <a:chExt cx="12769638" cy="21701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69638" cy="2170177"/>
            </a:xfrm>
            <a:custGeom>
              <a:avLst/>
              <a:gdLst/>
              <a:ahLst/>
              <a:cxnLst/>
              <a:rect r="r" b="b" t="t" l="l"/>
              <a:pathLst>
                <a:path h="2170177" w="12769638">
                  <a:moveTo>
                    <a:pt x="0" y="0"/>
                  </a:moveTo>
                  <a:lnTo>
                    <a:pt x="12769638" y="0"/>
                  </a:lnTo>
                  <a:lnTo>
                    <a:pt x="12769638" y="2170177"/>
                  </a:lnTo>
                  <a:lnTo>
                    <a:pt x="0" y="21701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60" r="-73289" b="-1366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769638" cy="2189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Why fine-tuning won, and an informal ensembling check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2065020"/>
            <a:ext cx="87782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E457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won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3291840"/>
            <a:ext cx="754380" cy="754380"/>
            <a:chOff x="0" y="0"/>
            <a:chExt cx="100584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3291840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20240" y="3234690"/>
            <a:ext cx="76809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Frozen ImageNet features transfer poorly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0240" y="3851910"/>
            <a:ext cx="76809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gap: skin photos differ from ImageNet, so a linear head on fixed features tops out at 0.618.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2960" y="534924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534924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920240" y="5292090"/>
            <a:ext cx="76809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Every layer adapts to skin images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20240" y="5909310"/>
            <a:ext cx="76809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Pretrained start plus 11.2M trainable weights, versus 393k for the scratch CNN.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740664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7406640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920240" y="7349490"/>
            <a:ext cx="76809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tuned, gentle learning rate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20240" y="7966710"/>
            <a:ext cx="76809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lr 1e-4 won the tuning runs and keeps pretrained knowledge intact.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87000" y="2057400"/>
            <a:ext cx="7132320" cy="7132320"/>
            <a:chOff x="0" y="0"/>
            <a:chExt cx="9509760" cy="9509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1" cy="9509761"/>
            </a:xfrm>
            <a:custGeom>
              <a:avLst/>
              <a:gdLst/>
              <a:ahLst/>
              <a:cxnLst/>
              <a:rect r="r" b="b" t="t" l="l"/>
              <a:pathLst>
                <a:path h="9509761" w="9509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290304" y="0"/>
                  </a:lnTo>
                  <a:cubicBezTo>
                    <a:pt x="9411462" y="0"/>
                    <a:pt x="9509761" y="98298"/>
                    <a:pt x="9509761" y="219456"/>
                  </a:cubicBezTo>
                  <a:lnTo>
                    <a:pt x="9509761" y="9290304"/>
                  </a:lnTo>
                  <a:cubicBezTo>
                    <a:pt x="9509761" y="9411462"/>
                    <a:pt x="9411462" y="9509761"/>
                    <a:pt x="9290304" y="9509761"/>
                  </a:cubicBezTo>
                  <a:lnTo>
                    <a:pt x="219456" y="9509761"/>
                  </a:lnTo>
                  <a:cubicBezTo>
                    <a:pt x="98298" y="9509760"/>
                    <a:pt x="0" y="9411462"/>
                    <a:pt x="0" y="9290304"/>
                  </a:cubicBezTo>
                  <a:close/>
                </a:path>
              </a:pathLst>
            </a:custGeom>
            <a:solidFill>
              <a:srgbClr val="0B3C49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698480" y="2539365"/>
            <a:ext cx="63093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Informal ensembling check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98480" y="3693795"/>
            <a:ext cx="254365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99.62%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98480" y="4606290"/>
            <a:ext cx="63093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AF2F4"/>
                </a:solidFill>
                <a:latin typeface="Calibri (MS)"/>
                <a:ea typeface="Calibri (MS)"/>
                <a:cs typeface="Calibri (MS)"/>
                <a:sym typeface="Calibri (MS)"/>
              </a:rPr>
              <a:t>fine-tuned model alone, one example photo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98480" y="6000750"/>
            <a:ext cx="254365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2A541"/>
                </a:solidFill>
                <a:latin typeface="Cambria Bold"/>
                <a:ea typeface="Cambria Bold"/>
                <a:cs typeface="Cambria Bold"/>
                <a:sym typeface="Cambria Bold"/>
              </a:rPr>
              <a:t>56.68%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98480" y="6800850"/>
            <a:ext cx="63093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AF2F4"/>
                </a:solidFill>
                <a:latin typeface="Calibri (MS)"/>
                <a:ea typeface="Calibri (MS)"/>
                <a:cs typeface="Calibri (MS)"/>
                <a:sym typeface="Calibri (MS)"/>
              </a:rPr>
              <a:t>equal-weight ensemble of all three, same photo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98480" y="7808595"/>
            <a:ext cx="630936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Here the weak CNN diluted the strong model. Not tested on the full test set.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Limitations and future 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057400"/>
            <a:ext cx="8161020" cy="7132320"/>
            <a:chOff x="0" y="0"/>
            <a:chExt cx="10881360" cy="9509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81361" cy="9509761"/>
            </a:xfrm>
            <a:custGeom>
              <a:avLst/>
              <a:gdLst/>
              <a:ahLst/>
              <a:cxnLst/>
              <a:rect r="r" b="b" t="t" l="l"/>
              <a:pathLst>
                <a:path h="9509761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9290304"/>
                  </a:lnTo>
                  <a:cubicBezTo>
                    <a:pt x="10881361" y="9411462"/>
                    <a:pt x="10783062" y="9509761"/>
                    <a:pt x="10661904" y="9509761"/>
                  </a:cubicBezTo>
                  <a:lnTo>
                    <a:pt x="219456" y="9509761"/>
                  </a:lnTo>
                  <a:cubicBezTo>
                    <a:pt x="98298" y="9509760"/>
                    <a:pt x="0" y="9411462"/>
                    <a:pt x="0" y="929030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34440" y="2265045"/>
            <a:ext cx="74066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E457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440" y="3156585"/>
            <a:ext cx="7406640" cy="582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shift: can fail on random internet photos (informal tests), since it learned one dataset's photo style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Multi-source acquisition bias: image source can leak into what the model learns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Rare, look-alike classes stay weak: actinic keratoses, melanoma, dermatofibroma, SCC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Not a diagnostic tool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58300" y="2057400"/>
            <a:ext cx="8161020" cy="7132320"/>
            <a:chOff x="0" y="0"/>
            <a:chExt cx="10881360" cy="9509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81361" cy="9509761"/>
            </a:xfrm>
            <a:custGeom>
              <a:avLst/>
              <a:gdLst/>
              <a:ahLst/>
              <a:cxnLst/>
              <a:rect r="r" b="b" t="t" l="l"/>
              <a:pathLst>
                <a:path h="9509761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9290304"/>
                  </a:lnTo>
                  <a:cubicBezTo>
                    <a:pt x="10881361" y="9411462"/>
                    <a:pt x="10783062" y="9509761"/>
                    <a:pt x="10661904" y="9509761"/>
                  </a:cubicBezTo>
                  <a:lnTo>
                    <a:pt x="219456" y="9509761"/>
                  </a:lnTo>
                  <a:cubicBezTo>
                    <a:pt x="98298" y="9509760"/>
                    <a:pt x="0" y="9411462"/>
                    <a:pt x="0" y="929030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69780" y="2265045"/>
            <a:ext cx="74066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B7A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69780" y="3156585"/>
            <a:ext cx="7406640" cy="582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Data augmentation and more samples for rare classes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or learned ensembling instead of equal weights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Test on external datasets to measure domain shift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Try larger pretrained backbones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79285" y="6368581"/>
            <a:ext cx="8325353" cy="7191024"/>
          </a:xfrm>
          <a:custGeom>
            <a:avLst/>
            <a:gdLst/>
            <a:ahLst/>
            <a:cxnLst/>
            <a:rect r="r" b="b" t="t" l="l"/>
            <a:pathLst>
              <a:path h="7191024" w="8325353">
                <a:moveTo>
                  <a:pt x="0" y="0"/>
                </a:moveTo>
                <a:lnTo>
                  <a:pt x="8325353" y="0"/>
                </a:lnTo>
                <a:lnTo>
                  <a:pt x="8325353" y="7191024"/>
                </a:lnTo>
                <a:lnTo>
                  <a:pt x="0" y="7191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727180" y="-2739742"/>
            <a:ext cx="8325353" cy="7191024"/>
          </a:xfrm>
          <a:custGeom>
            <a:avLst/>
            <a:gdLst/>
            <a:ahLst/>
            <a:cxnLst/>
            <a:rect r="r" b="b" t="t" l="l"/>
            <a:pathLst>
              <a:path h="7191024" w="8325353">
                <a:moveTo>
                  <a:pt x="8325353" y="7191024"/>
                </a:moveTo>
                <a:lnTo>
                  <a:pt x="0" y="7191024"/>
                </a:lnTo>
                <a:lnTo>
                  <a:pt x="0" y="0"/>
                </a:lnTo>
                <a:lnTo>
                  <a:pt x="8325353" y="0"/>
                </a:lnTo>
                <a:lnTo>
                  <a:pt x="8325353" y="7191024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27180" y="1395266"/>
            <a:ext cx="4267157" cy="7496468"/>
            <a:chOff x="0" y="0"/>
            <a:chExt cx="608209" cy="10684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8209" cy="1068491"/>
            </a:xfrm>
            <a:custGeom>
              <a:avLst/>
              <a:gdLst/>
              <a:ahLst/>
              <a:cxnLst/>
              <a:rect r="r" b="b" t="t" l="l"/>
              <a:pathLst>
                <a:path h="1068491" w="608209">
                  <a:moveTo>
                    <a:pt x="108858" y="0"/>
                  </a:moveTo>
                  <a:lnTo>
                    <a:pt x="499351" y="0"/>
                  </a:lnTo>
                  <a:cubicBezTo>
                    <a:pt x="559472" y="0"/>
                    <a:pt x="608209" y="48737"/>
                    <a:pt x="608209" y="108858"/>
                  </a:cubicBezTo>
                  <a:lnTo>
                    <a:pt x="608209" y="959633"/>
                  </a:lnTo>
                  <a:cubicBezTo>
                    <a:pt x="608209" y="1019754"/>
                    <a:pt x="559472" y="1068491"/>
                    <a:pt x="499351" y="1068491"/>
                  </a:cubicBezTo>
                  <a:lnTo>
                    <a:pt x="108858" y="1068491"/>
                  </a:lnTo>
                  <a:cubicBezTo>
                    <a:pt x="48737" y="1068491"/>
                    <a:pt x="0" y="1019754"/>
                    <a:pt x="0" y="959633"/>
                  </a:cubicBezTo>
                  <a:lnTo>
                    <a:pt x="0" y="108858"/>
                  </a:lnTo>
                  <a:cubicBezTo>
                    <a:pt x="0" y="48737"/>
                    <a:pt x="48737" y="0"/>
                    <a:pt x="108858" y="0"/>
                  </a:cubicBezTo>
                  <a:close/>
                </a:path>
              </a:pathLst>
            </a:custGeom>
            <a:blipFill>
              <a:blip r:embed="rId4"/>
              <a:stretch>
                <a:fillRect l="-82155" t="0" r="-8215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87419" y="2889592"/>
            <a:ext cx="8317299" cy="103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0"/>
              </a:lnSpc>
            </a:pPr>
            <a:r>
              <a:rPr lang="en-US" b="true" sz="8000" spc="-440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Conc</a:t>
            </a:r>
            <a:r>
              <a:rPr lang="en-US" b="true" sz="8000" spc="-440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45704" y="4655509"/>
            <a:ext cx="7915142" cy="290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Fully fin</a:t>
            </a: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e-tuned ResNet-18 reached 0.842 accuracy and 0.833 macro-F1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Frozen features and a scratch CNN both stayed near 0.6 accuracy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Main errors: nevi vs melanoma and other look-alike lesions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Next: rare-class data and external validation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946384" y="9044134"/>
            <a:ext cx="731291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github.com/Smarady67/skin-lesion-classification.git"/>
              </a:rPr>
              <a:t>github.com/Smarady67/</a:t>
            </a:r>
          </a:p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github.com/Smarady67/skin-lesion-classification.git"/>
              </a:rPr>
              <a:t>skin-lesion-classification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Appendix A: per-class F1, fine-tuned ResNet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29184" y="768096"/>
            <a:ext cx="13825728" cy="9848088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2755880" y="2057400"/>
            <a:ext cx="4663440" cy="4663440"/>
            <a:chOff x="0" y="0"/>
            <a:chExt cx="6217920" cy="6217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998464" y="0"/>
                  </a:lnTo>
                  <a:cubicBezTo>
                    <a:pt x="6119622" y="0"/>
                    <a:pt x="6217920" y="98298"/>
                    <a:pt x="6217920" y="219456"/>
                  </a:cubicBezTo>
                  <a:lnTo>
                    <a:pt x="6217920" y="5998464"/>
                  </a:lnTo>
                  <a:cubicBezTo>
                    <a:pt x="6217920" y="6119622"/>
                    <a:pt x="6119622" y="6217920"/>
                    <a:pt x="5998464" y="6217920"/>
                  </a:cubicBezTo>
                  <a:lnTo>
                    <a:pt x="219456" y="6217920"/>
                  </a:lnTo>
                  <a:cubicBezTo>
                    <a:pt x="98298" y="6217920"/>
                    <a:pt x="0" y="6119622"/>
                    <a:pt x="0" y="599846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098780" y="2274570"/>
            <a:ext cx="397764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Reading the 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98780" y="3097530"/>
            <a:ext cx="3977640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Coral: F1 below 0.70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Weak classes are rare and look alike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Viral classes: 0.96 to 0.99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Appendix B: misclassified examples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194560"/>
            <a:ext cx="16596360" cy="3689604"/>
            <a:chOff x="0" y="0"/>
            <a:chExt cx="22128480" cy="4919472"/>
          </a:xfrm>
        </p:grpSpPr>
        <p:sp>
          <p:nvSpPr>
            <p:cNvPr name="Freeform 6" id="6" descr="Six actinic keratoses images misclassified by the fine-tuned model"/>
            <p:cNvSpPr/>
            <p:nvPr/>
          </p:nvSpPr>
          <p:spPr>
            <a:xfrm flipH="false" flipV="false" rot="0">
              <a:off x="0" y="0"/>
              <a:ext cx="22128480" cy="4919472"/>
            </a:xfrm>
            <a:custGeom>
              <a:avLst/>
              <a:gdLst/>
              <a:ahLst/>
              <a:cxnLst/>
              <a:rect r="r" b="b" t="t" l="l"/>
              <a:pathLst>
                <a:path h="491947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919472"/>
                  </a:lnTo>
                  <a:lnTo>
                    <a:pt x="0" y="4919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2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446520"/>
            <a:ext cx="16596360" cy="2606040"/>
            <a:chOff x="0" y="0"/>
            <a:chExt cx="22128480" cy="3474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3255264"/>
                  </a:lnTo>
                  <a:cubicBezTo>
                    <a:pt x="22128480" y="3376422"/>
                    <a:pt x="22030182" y="3474720"/>
                    <a:pt x="2190902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34440" y="6614160"/>
            <a:ext cx="1577340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All six shown are actinic keratoses, predicted as melanoma, squamous cell carcinoma, basal cell carcinoma or benign keratosis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These classes share colour and texture, so even a strong model confuses them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2496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782260" y="0"/>
            <a:ext cx="2505740" cy="2359775"/>
          </a:xfrm>
          <a:custGeom>
            <a:avLst/>
            <a:gdLst/>
            <a:ahLst/>
            <a:cxnLst/>
            <a:rect r="r" b="b" t="t" l="l"/>
            <a:pathLst>
              <a:path h="2359775" w="2505740">
                <a:moveTo>
                  <a:pt x="0" y="0"/>
                </a:moveTo>
                <a:lnTo>
                  <a:pt x="2505740" y="0"/>
                </a:lnTo>
                <a:lnTo>
                  <a:pt x="2505740" y="2359775"/>
                </a:lnTo>
                <a:lnTo>
                  <a:pt x="0" y="235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DAHYF9MGySw</dc:identifier>
  <dcterms:modified xsi:type="dcterms:W3CDTF">2011-08-01T06:04:30Z</dcterms:modified>
  <cp:revision>1</cp:revision>
  <dc:title>Skin Lesion Classification</dc:title>
</cp:coreProperties>
</file>
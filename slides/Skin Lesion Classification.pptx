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Work Sans Bold" charset="1" panose="00000000000000000000"/>
      <p:regular r:id="rId22"/>
    </p:embeddedFont>
    <p:embeddedFont>
      <p:font typeface="Work Sans" charset="1" panose="00000000000000000000"/>
      <p:regular r:id="rId23"/>
    </p:embeddedFont>
    <p:embeddedFont>
      <p:font typeface="Cambria" charset="1" panose="02040503050406030204"/>
      <p:regular r:id="rId24"/>
    </p:embeddedFont>
    <p:embeddedFont>
      <p:font typeface="Cambria Bold" charset="1" panose="02040803050406030204"/>
      <p:regular r:id="rId25"/>
    </p:embeddedFont>
    <p:embeddedFont>
      <p:font typeface="Calibri (MS) Bold" charset="1" panose="020F0702030404030204"/>
      <p:regular r:id="rId26"/>
    </p:embeddedFont>
    <p:embeddedFont>
      <p:font typeface="Calibri (MS)" charset="1" panose="020F050202020403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8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9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https://github.com/Smarady67/skin-lesion-classification.git" TargetMode="External" Type="http://schemas.openxmlformats.org/officeDocument/2006/relationships/hyperlink"/><Relationship Id="rId6" Target="https://github.com/Smarady67/skin-lesion-classification.git" TargetMode="External" Type="http://schemas.openxmlformats.org/officeDocument/2006/relationships/hyperlink"/><Relationship Id="rId7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11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79281" y="6368577"/>
            <a:ext cx="8325355" cy="7191023"/>
          </a:xfrm>
          <a:custGeom>
            <a:avLst/>
            <a:gdLst/>
            <a:ahLst/>
            <a:cxnLst/>
            <a:rect r="r" b="b" t="t" l="l"/>
            <a:pathLst>
              <a:path h="7191023" w="8325355">
                <a:moveTo>
                  <a:pt x="0" y="0"/>
                </a:moveTo>
                <a:lnTo>
                  <a:pt x="8325355" y="0"/>
                </a:lnTo>
                <a:lnTo>
                  <a:pt x="8325355" y="7191023"/>
                </a:lnTo>
                <a:lnTo>
                  <a:pt x="0" y="7191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12" r="0" b="-21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727180" y="-2739742"/>
            <a:ext cx="8325355" cy="7191023"/>
          </a:xfrm>
          <a:custGeom>
            <a:avLst/>
            <a:gdLst/>
            <a:ahLst/>
            <a:cxnLst/>
            <a:rect r="r" b="b" t="t" l="l"/>
            <a:pathLst>
              <a:path h="7191023" w="8325355">
                <a:moveTo>
                  <a:pt x="8325355" y="7191022"/>
                </a:moveTo>
                <a:lnTo>
                  <a:pt x="0" y="7191022"/>
                </a:lnTo>
                <a:lnTo>
                  <a:pt x="0" y="0"/>
                </a:lnTo>
                <a:lnTo>
                  <a:pt x="8325355" y="0"/>
                </a:lnTo>
                <a:lnTo>
                  <a:pt x="8325355" y="7191022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12" r="0" b="-21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52548" y="1495130"/>
            <a:ext cx="5811298" cy="7496470"/>
            <a:chOff x="0" y="0"/>
            <a:chExt cx="7748397" cy="99952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48270" cy="9995281"/>
            </a:xfrm>
            <a:custGeom>
              <a:avLst/>
              <a:gdLst/>
              <a:ahLst/>
              <a:cxnLst/>
              <a:rect r="r" b="b" t="t" l="l"/>
              <a:pathLst>
                <a:path h="9995281" w="7748270">
                  <a:moveTo>
                    <a:pt x="747776" y="0"/>
                  </a:moveTo>
                  <a:lnTo>
                    <a:pt x="7000621" y="0"/>
                  </a:lnTo>
                  <a:cubicBezTo>
                    <a:pt x="7198995" y="0"/>
                    <a:pt x="7389114" y="78740"/>
                    <a:pt x="7529322" y="218948"/>
                  </a:cubicBezTo>
                  <a:cubicBezTo>
                    <a:pt x="7669530" y="359156"/>
                    <a:pt x="7748270" y="549402"/>
                    <a:pt x="7748270" y="747649"/>
                  </a:cubicBezTo>
                  <a:lnTo>
                    <a:pt x="7748270" y="9247505"/>
                  </a:lnTo>
                  <a:cubicBezTo>
                    <a:pt x="7748270" y="9660510"/>
                    <a:pt x="7413498" y="9995281"/>
                    <a:pt x="7000494" y="9995281"/>
                  </a:cubicBezTo>
                  <a:lnTo>
                    <a:pt x="747776" y="9995281"/>
                  </a:lnTo>
                  <a:cubicBezTo>
                    <a:pt x="549529" y="9995281"/>
                    <a:pt x="359283" y="9916541"/>
                    <a:pt x="219075" y="9776333"/>
                  </a:cubicBezTo>
                  <a:cubicBezTo>
                    <a:pt x="78867" y="9636125"/>
                    <a:pt x="0" y="9445879"/>
                    <a:pt x="0" y="9247505"/>
                  </a:cubicBezTo>
                  <a:lnTo>
                    <a:pt x="0" y="747776"/>
                  </a:lnTo>
                  <a:cubicBezTo>
                    <a:pt x="0" y="549402"/>
                    <a:pt x="78740" y="359283"/>
                    <a:pt x="218948" y="218948"/>
                  </a:cubicBezTo>
                  <a:cubicBezTo>
                    <a:pt x="359156" y="78613"/>
                    <a:pt x="549402" y="0"/>
                    <a:pt x="747776" y="0"/>
                  </a:cubicBezTo>
                  <a:close/>
                </a:path>
              </a:pathLst>
            </a:custGeom>
            <a:blipFill>
              <a:blip r:embed="rId4"/>
              <a:stretch>
                <a:fillRect l="-47040" t="0" r="-4704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737740" y="432473"/>
            <a:ext cx="829694" cy="1282617"/>
            <a:chOff x="0" y="0"/>
            <a:chExt cx="1106259" cy="17101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6297" cy="1710182"/>
            </a:xfrm>
            <a:custGeom>
              <a:avLst/>
              <a:gdLst/>
              <a:ahLst/>
              <a:cxnLst/>
              <a:rect r="r" b="b" t="t" l="l"/>
              <a:pathLst>
                <a:path h="1710182" w="1106297">
                  <a:moveTo>
                    <a:pt x="0" y="0"/>
                  </a:moveTo>
                  <a:lnTo>
                    <a:pt x="1106297" y="0"/>
                  </a:lnTo>
                  <a:lnTo>
                    <a:pt x="1106297" y="1710182"/>
                  </a:lnTo>
                  <a:lnTo>
                    <a:pt x="0" y="1710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0" t="0" r="-117" b="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491035" y="4416428"/>
            <a:ext cx="8317297" cy="199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b="true" sz="8000" spc="-440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Skin Lesion </a:t>
            </a:r>
            <a:r>
              <a:rPr lang="en-US" b="true" sz="8000" spc="-440">
                <a:solidFill>
                  <a:srgbClr val="D7B64C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Classification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91035" y="8972550"/>
            <a:ext cx="98755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AF2F4"/>
                </a:solidFill>
                <a:latin typeface="Work Sans"/>
                <a:ea typeface="Work Sans"/>
                <a:cs typeface="Work Sans"/>
                <a:sym typeface="Work Sans"/>
              </a:rPr>
              <a:t>Sokha Marady  |  Batch 13, Software Engineering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AF2F4"/>
                </a:solidFill>
                <a:latin typeface="Work Sans"/>
                <a:ea typeface="Work Sans"/>
                <a:cs typeface="Work Sans"/>
                <a:sym typeface="Work Sans"/>
              </a:rPr>
              <a:t>Lecturer: Mr. Soklong HIM  |  Deep Learning Final 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91035" y="6211414"/>
            <a:ext cx="607563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Three deep-learning approaches on a 14-class image dataset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72916"/>
            <a:ext cx="16596360" cy="1241584"/>
            <a:chOff x="0" y="0"/>
            <a:chExt cx="22128480" cy="16554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458" r="0" b="-2104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Problem and motivation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22960" y="1676400"/>
            <a:ext cx="165963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B2A30"/>
                </a:solidFill>
                <a:latin typeface="Cambria"/>
                <a:ea typeface="Cambria"/>
                <a:cs typeface="Cambria"/>
                <a:sym typeface="Cambria"/>
              </a:rPr>
              <a:t>Given one photo of skin, predict which of 14 classes it shows.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2960" y="3086100"/>
            <a:ext cx="5349240" cy="6789420"/>
            <a:chOff x="0" y="0"/>
            <a:chExt cx="7132320" cy="9052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32320" cy="9052560"/>
            </a:xfrm>
            <a:custGeom>
              <a:avLst/>
              <a:gdLst/>
              <a:ahLst/>
              <a:cxnLst/>
              <a:rect r="r" b="b" t="t" l="l"/>
              <a:pathLst>
                <a:path h="9052560" w="7132320">
                  <a:moveTo>
                    <a:pt x="0" y="362077"/>
                  </a:moveTo>
                  <a:cubicBezTo>
                    <a:pt x="0" y="162179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162179"/>
                    <a:pt x="7132320" y="362077"/>
                  </a:cubicBezTo>
                  <a:lnTo>
                    <a:pt x="7132320" y="8690483"/>
                  </a:lnTo>
                  <a:cubicBezTo>
                    <a:pt x="7132320" y="8890381"/>
                    <a:pt x="7034022" y="9052560"/>
                    <a:pt x="6912864" y="9052560"/>
                  </a:cubicBezTo>
                  <a:lnTo>
                    <a:pt x="219456" y="9052560"/>
                  </a:lnTo>
                  <a:cubicBezTo>
                    <a:pt x="98298" y="9052560"/>
                    <a:pt x="0" y="8890381"/>
                    <a:pt x="0" y="8690483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34440" y="3272790"/>
            <a:ext cx="164592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true">
                <a:solidFill>
                  <a:srgbClr val="0B7A8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4440" y="4644390"/>
            <a:ext cx="452628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B2A3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Skin lesion types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4440" y="5261610"/>
            <a:ext cx="4526280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0"/>
                </a:solidFill>
                <a:latin typeface="Work Sans"/>
                <a:ea typeface="Work Sans"/>
                <a:cs typeface="Work Sans"/>
                <a:sym typeface="Work Sans"/>
              </a:rPr>
              <a:t>Melanoma,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0"/>
                </a:solidFill>
                <a:latin typeface="Work Sans"/>
                <a:ea typeface="Work Sans"/>
                <a:cs typeface="Work Sans"/>
                <a:sym typeface="Work Sans"/>
              </a:rPr>
              <a:t>melanocytic nevi,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0"/>
                </a:solidFill>
                <a:latin typeface="Work Sans"/>
                <a:ea typeface="Work Sans"/>
                <a:cs typeface="Work Sans"/>
                <a:sym typeface="Work Sans"/>
              </a:rPr>
              <a:t>basal cell and squamous cell carcinoma,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0"/>
                </a:solidFill>
                <a:latin typeface="Work Sans"/>
                <a:ea typeface="Work Sans"/>
                <a:cs typeface="Work Sans"/>
                <a:sym typeface="Work Sans"/>
              </a:rPr>
              <a:t>actinic keratoses,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0"/>
                </a:solidFill>
                <a:latin typeface="Work Sans"/>
                <a:ea typeface="Work Sans"/>
                <a:cs typeface="Work Sans"/>
                <a:sym typeface="Work Sans"/>
              </a:rPr>
              <a:t>benign keratosis-like, dermatofibroma,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0"/>
                </a:solidFill>
                <a:latin typeface="Work Sans"/>
                <a:ea typeface="Work Sans"/>
                <a:cs typeface="Work Sans"/>
                <a:sym typeface="Work Sans"/>
              </a:rPr>
              <a:t>vascular lesions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446520" y="3086100"/>
            <a:ext cx="5349240" cy="4114800"/>
            <a:chOff x="0" y="0"/>
            <a:chExt cx="7132320" cy="548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32320" cy="5486400"/>
            </a:xfrm>
            <a:custGeom>
              <a:avLst/>
              <a:gdLst/>
              <a:ahLst/>
              <a:cxnLst/>
              <a:rect r="r" b="b" t="t" l="l"/>
              <a:pathLst>
                <a:path h="548640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5266944"/>
                  </a:lnTo>
                  <a:cubicBezTo>
                    <a:pt x="7132320" y="5388102"/>
                    <a:pt x="7034022" y="5486400"/>
                    <a:pt x="6912864" y="5486400"/>
                  </a:cubicBezTo>
                  <a:lnTo>
                    <a:pt x="219456" y="5486400"/>
                  </a:lnTo>
                  <a:cubicBezTo>
                    <a:pt x="98298" y="5486400"/>
                    <a:pt x="0" y="5388102"/>
                    <a:pt x="0" y="526694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858000" y="3272790"/>
            <a:ext cx="164592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true">
                <a:solidFill>
                  <a:srgbClr val="0B7A8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58000" y="4644390"/>
            <a:ext cx="452628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B2A3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Viral skin diseases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58000" y="5261610"/>
            <a:ext cx="452628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0"/>
                </a:solidFill>
                <a:latin typeface="Work Sans"/>
                <a:ea typeface="Work Sans"/>
                <a:cs typeface="Work Sans"/>
                <a:sym typeface="Work Sans"/>
              </a:rPr>
              <a:t>Chickenpox, cowpox, HFMD, measles, monkeypox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70080" y="3086100"/>
            <a:ext cx="5349240" cy="4114800"/>
            <a:chOff x="0" y="0"/>
            <a:chExt cx="7132320" cy="548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32320" cy="5486400"/>
            </a:xfrm>
            <a:custGeom>
              <a:avLst/>
              <a:gdLst/>
              <a:ahLst/>
              <a:cxnLst/>
              <a:rect r="r" b="b" t="t" l="l"/>
              <a:pathLst>
                <a:path h="548640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5266944"/>
                  </a:lnTo>
                  <a:cubicBezTo>
                    <a:pt x="7132320" y="5388102"/>
                    <a:pt x="7034022" y="5486400"/>
                    <a:pt x="6912864" y="5486400"/>
                  </a:cubicBezTo>
                  <a:lnTo>
                    <a:pt x="219456" y="5486400"/>
                  </a:lnTo>
                  <a:cubicBezTo>
                    <a:pt x="98298" y="5486400"/>
                    <a:pt x="0" y="5388102"/>
                    <a:pt x="0" y="526694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481560" y="3272790"/>
            <a:ext cx="164592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true">
                <a:solidFill>
                  <a:srgbClr val="0B7A8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81560" y="4644390"/>
            <a:ext cx="452628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B2A3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Healthy skin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81560" y="5261610"/>
            <a:ext cx="452628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0"/>
                </a:solidFill>
                <a:latin typeface="Work Sans"/>
                <a:ea typeface="Work Sans"/>
                <a:cs typeface="Work Sans"/>
                <a:sym typeface="Work Sans"/>
              </a:rPr>
              <a:t>Normal skin, so the model can say "nothing here"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446520" y="7543800"/>
            <a:ext cx="10972800" cy="2331720"/>
            <a:chOff x="0" y="0"/>
            <a:chExt cx="14630400" cy="3108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4630400">
                  <a:moveTo>
                    <a:pt x="0" y="324358"/>
                  </a:moveTo>
                  <a:cubicBezTo>
                    <a:pt x="0" y="145288"/>
                    <a:pt x="65024" y="0"/>
                    <a:pt x="145034" y="0"/>
                  </a:cubicBezTo>
                  <a:lnTo>
                    <a:pt x="14485365" y="0"/>
                  </a:lnTo>
                  <a:cubicBezTo>
                    <a:pt x="14565503" y="0"/>
                    <a:pt x="14630400" y="145288"/>
                    <a:pt x="14630400" y="324358"/>
                  </a:cubicBezTo>
                  <a:lnTo>
                    <a:pt x="14630400" y="2784602"/>
                  </a:lnTo>
                  <a:cubicBezTo>
                    <a:pt x="14630400" y="2963672"/>
                    <a:pt x="14565376" y="3108960"/>
                    <a:pt x="14485365" y="3108960"/>
                  </a:cubicBezTo>
                  <a:lnTo>
                    <a:pt x="145034" y="3108960"/>
                  </a:lnTo>
                  <a:cubicBezTo>
                    <a:pt x="65024" y="3108960"/>
                    <a:pt x="0" y="2963672"/>
                    <a:pt x="0" y="2784602"/>
                  </a:cubicBezTo>
                  <a:close/>
                </a:path>
              </a:pathLst>
            </a:custGeom>
            <a:solidFill>
              <a:srgbClr val="0B7A8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897322" y="7468657"/>
            <a:ext cx="6071197" cy="2482005"/>
            <a:chOff x="0" y="0"/>
            <a:chExt cx="8094929" cy="330934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094980" cy="3309366"/>
            </a:xfrm>
            <a:custGeom>
              <a:avLst/>
              <a:gdLst/>
              <a:ahLst/>
              <a:cxnLst/>
              <a:rect r="r" b="b" t="t" l="l"/>
              <a:pathLst>
                <a:path h="3309366" w="8094980">
                  <a:moveTo>
                    <a:pt x="0" y="0"/>
                  </a:moveTo>
                  <a:lnTo>
                    <a:pt x="8094980" y="0"/>
                  </a:lnTo>
                  <a:lnTo>
                    <a:pt x="8094980" y="3309366"/>
                  </a:lnTo>
                  <a:lnTo>
                    <a:pt x="0" y="33093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9" t="0" r="-2488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897322" y="7461514"/>
            <a:ext cx="6071197" cy="2489149"/>
            <a:chOff x="0" y="0"/>
            <a:chExt cx="8094929" cy="331886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94932" cy="3318868"/>
            </a:xfrm>
            <a:custGeom>
              <a:avLst/>
              <a:gdLst/>
              <a:ahLst/>
              <a:cxnLst/>
              <a:rect r="r" b="b" t="t" l="l"/>
              <a:pathLst>
                <a:path h="3318868" w="8094932">
                  <a:moveTo>
                    <a:pt x="0" y="0"/>
                  </a:moveTo>
                  <a:lnTo>
                    <a:pt x="8094932" y="0"/>
                  </a:lnTo>
                  <a:lnTo>
                    <a:pt x="8094932" y="3318868"/>
                  </a:lnTo>
                  <a:lnTo>
                    <a:pt x="0" y="33188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03" t="0" r="-26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8094929" cy="33283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Research question: how much does pretrained knowledge help, compared with training a network from scratch?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6824960" y="9608820"/>
            <a:ext cx="50292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Work Sans"/>
                <a:ea typeface="Work Sans"/>
                <a:cs typeface="Work Sans"/>
                <a:sym typeface="Work Sans"/>
              </a:rPr>
              <a:t>2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6737740" y="432473"/>
            <a:ext cx="829694" cy="1282617"/>
            <a:chOff x="0" y="0"/>
            <a:chExt cx="1106259" cy="171015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6297" cy="1710182"/>
            </a:xfrm>
            <a:custGeom>
              <a:avLst/>
              <a:gdLst/>
              <a:ahLst/>
              <a:cxnLst/>
              <a:rect r="r" b="b" t="t" l="l"/>
              <a:pathLst>
                <a:path h="1710182" w="1106297">
                  <a:moveTo>
                    <a:pt x="0" y="0"/>
                  </a:moveTo>
                  <a:lnTo>
                    <a:pt x="1106297" y="0"/>
                  </a:lnTo>
                  <a:lnTo>
                    <a:pt x="1106297" y="1710182"/>
                  </a:lnTo>
                  <a:lnTo>
                    <a:pt x="0" y="1710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0" t="0" r="-117" b="1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72916"/>
            <a:ext cx="16596360" cy="1241584"/>
            <a:chOff x="0" y="0"/>
            <a:chExt cx="22128480" cy="16554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458" r="0" b="-2104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Dataset and split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22960" y="1695450"/>
            <a:ext cx="1274688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30"/>
                </a:solidFill>
                <a:latin typeface="Cambria"/>
                <a:ea typeface="Cambria"/>
                <a:cs typeface="Cambria"/>
                <a:sym typeface="Cambria"/>
              </a:rPr>
              <a:t>Kaggle dataset ahmedxc4/skin-ds: 36,656 images, 14 classes, official train / val / test folders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2960" y="3154680"/>
            <a:ext cx="5349240" cy="3291840"/>
            <a:chOff x="0" y="0"/>
            <a:chExt cx="7132320" cy="4389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323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4169664"/>
                  </a:lnTo>
                  <a:cubicBezTo>
                    <a:pt x="7132320" y="4290822"/>
                    <a:pt x="7034022" y="4389120"/>
                    <a:pt x="691286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0B7A8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21055" y="3874770"/>
            <a:ext cx="534924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7800" b="tru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29,322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2960" y="5036820"/>
            <a:ext cx="53492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Train  (80%)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46520" y="3154680"/>
            <a:ext cx="5349240" cy="3291840"/>
            <a:chOff x="0" y="0"/>
            <a:chExt cx="7132320" cy="4389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323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4169664"/>
                  </a:lnTo>
                  <a:cubicBezTo>
                    <a:pt x="7132320" y="4290822"/>
                    <a:pt x="7034022" y="4389120"/>
                    <a:pt x="691286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0B3C49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446520" y="3874770"/>
            <a:ext cx="534924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7800" b="tru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3,660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46520" y="5036820"/>
            <a:ext cx="53492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Validation  (10%)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70080" y="3154680"/>
            <a:ext cx="5349240" cy="3291840"/>
            <a:chOff x="0" y="0"/>
            <a:chExt cx="7132320" cy="4389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323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4169664"/>
                  </a:lnTo>
                  <a:cubicBezTo>
                    <a:pt x="7132320" y="4290822"/>
                    <a:pt x="7034022" y="4389120"/>
                    <a:pt x="691286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E4572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071985" y="3874770"/>
            <a:ext cx="534924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7800" b="tru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3,674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70080" y="5036820"/>
            <a:ext cx="53492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Test  (10%)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2960" y="6957060"/>
            <a:ext cx="1659636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0071" indent="-190024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1B2A30"/>
                </a:solidFill>
                <a:latin typeface="Cambria"/>
                <a:ea typeface="Cambria"/>
                <a:cs typeface="Cambria"/>
                <a:sym typeface="Cambria"/>
              </a:rPr>
              <a:t>Loaded with torchvision ImageFolder from the official folders as provided; we did not re-split</a:t>
            </a:r>
          </a:p>
          <a:p>
            <a:pPr algn="l" marL="570071" indent="-190024" lvl="2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1B2A30"/>
                </a:solidFill>
                <a:latin typeface="Cambria"/>
                <a:ea typeface="Cambria"/>
                <a:cs typeface="Cambria"/>
                <a:sym typeface="Cambria"/>
              </a:rPr>
              <a:t>All images resized to 224 x 224; test images use the same preprocessing as validation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824960" y="9608820"/>
            <a:ext cx="50292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Work Sans"/>
                <a:ea typeface="Work Sans"/>
                <a:cs typeface="Work Sans"/>
                <a:sym typeface="Work Sans"/>
              </a:rPr>
              <a:t>3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737740" y="432473"/>
            <a:ext cx="829694" cy="1282617"/>
            <a:chOff x="0" y="0"/>
            <a:chExt cx="1106259" cy="171015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6297" cy="1710182"/>
            </a:xfrm>
            <a:custGeom>
              <a:avLst/>
              <a:gdLst/>
              <a:ahLst/>
              <a:cxnLst/>
              <a:rect r="r" b="b" t="t" l="l"/>
              <a:pathLst>
                <a:path h="1710182" w="1106297">
                  <a:moveTo>
                    <a:pt x="0" y="0"/>
                  </a:moveTo>
                  <a:lnTo>
                    <a:pt x="1106297" y="0"/>
                  </a:lnTo>
                  <a:lnTo>
                    <a:pt x="1106297" y="1710182"/>
                  </a:lnTo>
                  <a:lnTo>
                    <a:pt x="0" y="1710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0" t="0" r="-117" b="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72916"/>
            <a:ext cx="16596360" cy="1241584"/>
            <a:chOff x="0" y="0"/>
            <a:chExt cx="22128480" cy="16554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458" r="0" b="-2104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Heavy class imbalance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2057400"/>
            <a:ext cx="6309360" cy="3566160"/>
            <a:chOff x="0" y="0"/>
            <a:chExt cx="8412480" cy="4754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124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8412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8193024" y="0"/>
                  </a:lnTo>
                  <a:cubicBezTo>
                    <a:pt x="8314182" y="0"/>
                    <a:pt x="8412480" y="98298"/>
                    <a:pt x="8412480" y="219456"/>
                  </a:cubicBezTo>
                  <a:lnTo>
                    <a:pt x="8412480" y="4535424"/>
                  </a:lnTo>
                  <a:cubicBezTo>
                    <a:pt x="8412480" y="4656582"/>
                    <a:pt x="8314182" y="4754880"/>
                    <a:pt x="8193024" y="4754880"/>
                  </a:cubicBezTo>
                  <a:lnTo>
                    <a:pt x="219456" y="4754880"/>
                  </a:lnTo>
                  <a:cubicBezTo>
                    <a:pt x="98298" y="4754880"/>
                    <a:pt x="0" y="4656582"/>
                    <a:pt x="0" y="453542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22960" y="2769870"/>
            <a:ext cx="630936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8400" b="true">
                <a:solidFill>
                  <a:srgbClr val="0B7A8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10,300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2960" y="4027170"/>
            <a:ext cx="630936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B2A30"/>
                </a:solidFill>
                <a:latin typeface="Work Sans"/>
                <a:ea typeface="Work Sans"/>
                <a:cs typeface="Work Sans"/>
                <a:sym typeface="Work Sans"/>
              </a:rPr>
              <a:t>Melanocytic nevi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B2A30"/>
                </a:solidFill>
                <a:latin typeface="Work Sans"/>
                <a:ea typeface="Work Sans"/>
                <a:cs typeface="Work Sans"/>
                <a:sym typeface="Work Sans"/>
              </a:rPr>
              <a:t>(train images)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132320" y="3223260"/>
            <a:ext cx="3977640" cy="1097280"/>
            <a:chOff x="0" y="0"/>
            <a:chExt cx="530352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03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84" r="0" b="-2058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132320" y="3216116"/>
            <a:ext cx="3977640" cy="1104424"/>
            <a:chOff x="0" y="0"/>
            <a:chExt cx="5303520" cy="14725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03520" cy="1472565"/>
            </a:xfrm>
            <a:custGeom>
              <a:avLst/>
              <a:gdLst/>
              <a:ahLst/>
              <a:cxnLst/>
              <a:rect r="r" b="b" t="t" l="l"/>
              <a:pathLst>
                <a:path h="1472565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76" r="0" b="-2017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30352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8"/>
                </a:lnSpc>
              </a:pPr>
              <a:r>
                <a:rPr lang="en-US" sz="4800" b="true">
                  <a:solidFill>
                    <a:srgbClr val="E4572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about 54x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132320" y="4232910"/>
            <a:ext cx="397764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8"/>
              </a:lnSpc>
            </a:pPr>
            <a:r>
              <a:rPr lang="en-US" sz="2400">
                <a:solidFill>
                  <a:srgbClr val="6B7F86"/>
                </a:solidFill>
                <a:latin typeface="Work Sans"/>
                <a:ea typeface="Work Sans"/>
                <a:cs typeface="Work Sans"/>
                <a:sym typeface="Work Sans"/>
              </a:rPr>
              <a:t>more images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109960" y="2057400"/>
            <a:ext cx="6309360" cy="3566160"/>
            <a:chOff x="0" y="0"/>
            <a:chExt cx="8412480" cy="4754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124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8412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8193024" y="0"/>
                  </a:lnTo>
                  <a:cubicBezTo>
                    <a:pt x="8314182" y="0"/>
                    <a:pt x="8412480" y="98298"/>
                    <a:pt x="8412480" y="219456"/>
                  </a:cubicBezTo>
                  <a:lnTo>
                    <a:pt x="8412480" y="4535424"/>
                  </a:lnTo>
                  <a:cubicBezTo>
                    <a:pt x="8412480" y="4656582"/>
                    <a:pt x="8314182" y="4754880"/>
                    <a:pt x="8193024" y="4754880"/>
                  </a:cubicBezTo>
                  <a:lnTo>
                    <a:pt x="219456" y="4754880"/>
                  </a:lnTo>
                  <a:cubicBezTo>
                    <a:pt x="98298" y="4754880"/>
                    <a:pt x="0" y="4656582"/>
                    <a:pt x="0" y="453542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109960" y="2769870"/>
            <a:ext cx="630936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8400" b="true">
                <a:solidFill>
                  <a:srgbClr val="E4572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191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09960" y="4027170"/>
            <a:ext cx="630936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B2A30"/>
                </a:solidFill>
                <a:latin typeface="Work Sans"/>
                <a:ea typeface="Work Sans"/>
                <a:cs typeface="Work Sans"/>
                <a:sym typeface="Work Sans"/>
              </a:rPr>
              <a:t>Dermatofibroma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B2A30"/>
                </a:solidFill>
                <a:latin typeface="Work Sans"/>
                <a:ea typeface="Work Sans"/>
                <a:cs typeface="Work Sans"/>
                <a:sym typeface="Work Sans"/>
              </a:rPr>
              <a:t>(train images)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2960" y="6172200"/>
            <a:ext cx="8161020" cy="3017520"/>
            <a:chOff x="0" y="0"/>
            <a:chExt cx="10881360" cy="4023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881361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3803904"/>
                  </a:lnTo>
                  <a:cubicBezTo>
                    <a:pt x="10881361" y="3925062"/>
                    <a:pt x="10783062" y="4023360"/>
                    <a:pt x="10661904" y="4023360"/>
                  </a:cubicBezTo>
                  <a:lnTo>
                    <a:pt x="219456" y="4023360"/>
                  </a:lnTo>
                  <a:cubicBezTo>
                    <a:pt x="98298" y="4023360"/>
                    <a:pt x="0" y="3925062"/>
                    <a:pt x="0" y="3803904"/>
                  </a:cubicBezTo>
                  <a:close/>
                </a:path>
              </a:pathLst>
            </a:custGeom>
            <a:solidFill>
              <a:srgbClr val="0B3C49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34440" y="6656070"/>
            <a:ext cx="74066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Weighted cross-entropy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4440" y="7231380"/>
            <a:ext cx="644971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Rare classes count more in the loss, so the model cannot ignore them.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58300" y="6172200"/>
            <a:ext cx="8161020" cy="3017520"/>
            <a:chOff x="0" y="0"/>
            <a:chExt cx="10881360" cy="4023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881361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3803904"/>
                  </a:lnTo>
                  <a:cubicBezTo>
                    <a:pt x="10881361" y="3925062"/>
                    <a:pt x="10783062" y="4023360"/>
                    <a:pt x="10661904" y="4023360"/>
                  </a:cubicBezTo>
                  <a:lnTo>
                    <a:pt x="219456" y="4023360"/>
                  </a:lnTo>
                  <a:cubicBezTo>
                    <a:pt x="98298" y="4023360"/>
                    <a:pt x="0" y="3925062"/>
                    <a:pt x="0" y="3803904"/>
                  </a:cubicBezTo>
                  <a:close/>
                </a:path>
              </a:pathLst>
            </a:custGeom>
            <a:solidFill>
              <a:srgbClr val="0B3C49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635490" y="6656070"/>
            <a:ext cx="74066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Macro-F1 as the main metric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69780" y="7231380"/>
            <a:ext cx="653670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Every class counts equally, unlike accuracy, which the big classes dominate.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824960" y="9608820"/>
            <a:ext cx="50292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Work Sans"/>
                <a:ea typeface="Work Sans"/>
                <a:cs typeface="Work Sans"/>
                <a:sym typeface="Work Sans"/>
              </a:rPr>
              <a:t>4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6737740" y="432473"/>
            <a:ext cx="829694" cy="1282617"/>
            <a:chOff x="0" y="0"/>
            <a:chExt cx="1106259" cy="171015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06297" cy="1710182"/>
            </a:xfrm>
            <a:custGeom>
              <a:avLst/>
              <a:gdLst/>
              <a:ahLst/>
              <a:cxnLst/>
              <a:rect r="r" b="b" t="t" l="l"/>
              <a:pathLst>
                <a:path h="1710182" w="1106297">
                  <a:moveTo>
                    <a:pt x="0" y="0"/>
                  </a:moveTo>
                  <a:lnTo>
                    <a:pt x="1106297" y="0"/>
                  </a:lnTo>
                  <a:lnTo>
                    <a:pt x="1106297" y="1710182"/>
                  </a:lnTo>
                  <a:lnTo>
                    <a:pt x="0" y="1710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0" t="0" r="-117" b="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824865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817721"/>
            <a:ext cx="16596360" cy="1241584"/>
            <a:chOff x="0" y="0"/>
            <a:chExt cx="22128480" cy="16554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458" r="0" b="-2104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Three approaches compared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2125980"/>
            <a:ext cx="5349240" cy="6995160"/>
            <a:chOff x="0" y="0"/>
            <a:chExt cx="7132320" cy="9326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32320" cy="9326880"/>
            </a:xfrm>
            <a:custGeom>
              <a:avLst/>
              <a:gdLst/>
              <a:ahLst/>
              <a:cxnLst/>
              <a:rect r="r" b="b" t="t" l="l"/>
              <a:pathLst>
                <a:path h="932688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9107424"/>
                  </a:lnTo>
                  <a:cubicBezTo>
                    <a:pt x="7132320" y="9228582"/>
                    <a:pt x="7034022" y="9326880"/>
                    <a:pt x="6912864" y="9326880"/>
                  </a:cubicBezTo>
                  <a:lnTo>
                    <a:pt x="219456" y="9326880"/>
                  </a:lnTo>
                  <a:cubicBezTo>
                    <a:pt x="98298" y="9326880"/>
                    <a:pt x="0" y="9228582"/>
                    <a:pt x="0" y="910742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34440" y="2537460"/>
            <a:ext cx="754380" cy="754380"/>
            <a:chOff x="0" y="0"/>
            <a:chExt cx="1005840" cy="1005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B7A8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34440" y="2537460"/>
            <a:ext cx="754380" cy="754380"/>
            <a:chOff x="0" y="0"/>
            <a:chExt cx="1005840" cy="1005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2537460"/>
            <a:ext cx="754380" cy="797243"/>
            <a:chOff x="0" y="0"/>
            <a:chExt cx="1005840" cy="10629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5840" cy="1062990"/>
            </a:xfrm>
            <a:custGeom>
              <a:avLst/>
              <a:gdLst/>
              <a:ahLst/>
              <a:cxnLst/>
              <a:rect r="r" b="b" t="t" l="l"/>
              <a:pathLst>
                <a:path h="106299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62990"/>
                  </a:lnTo>
                  <a:lnTo>
                    <a:pt x="0" y="10629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593" t="0" r="-8559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05840" cy="1120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34440" y="3615690"/>
            <a:ext cx="4526280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0B3C49"/>
                </a:solidFill>
                <a:latin typeface="Cambria Bold"/>
                <a:ea typeface="Cambria Bold"/>
                <a:cs typeface="Cambria Bold"/>
                <a:sym typeface="Cambria Bold"/>
              </a:rPr>
              <a:t>Custom CNN from scratch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4440" y="4918710"/>
            <a:ext cx="452628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0B7A8A"/>
                </a:solidFill>
                <a:latin typeface="Cambria Bold"/>
                <a:ea typeface="Cambria Bold"/>
                <a:cs typeface="Cambria Bold"/>
                <a:sym typeface="Cambria Bold"/>
              </a:rPr>
              <a:t>392,974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4440" y="5802630"/>
            <a:ext cx="4526280" cy="57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trainable parameters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4440" y="6644640"/>
            <a:ext cx="4526280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Small CNN, random start. Learns everything from skin images only.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446520" y="2125980"/>
            <a:ext cx="5349240" cy="6995160"/>
            <a:chOff x="0" y="0"/>
            <a:chExt cx="7132320" cy="932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32320" cy="9326880"/>
            </a:xfrm>
            <a:custGeom>
              <a:avLst/>
              <a:gdLst/>
              <a:ahLst/>
              <a:cxnLst/>
              <a:rect r="r" b="b" t="t" l="l"/>
              <a:pathLst>
                <a:path h="932688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9107424"/>
                  </a:lnTo>
                  <a:cubicBezTo>
                    <a:pt x="7132320" y="9228582"/>
                    <a:pt x="7034022" y="9326880"/>
                    <a:pt x="6912864" y="9326880"/>
                  </a:cubicBezTo>
                  <a:lnTo>
                    <a:pt x="219456" y="9326880"/>
                  </a:lnTo>
                  <a:cubicBezTo>
                    <a:pt x="98298" y="9326880"/>
                    <a:pt x="0" y="9228582"/>
                    <a:pt x="0" y="910742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858000" y="2537460"/>
            <a:ext cx="754380" cy="754380"/>
            <a:chOff x="0" y="0"/>
            <a:chExt cx="1005840" cy="1005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B7A8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58000" y="2537460"/>
            <a:ext cx="754380" cy="754380"/>
            <a:chOff x="0" y="0"/>
            <a:chExt cx="100584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858000" y="2537460"/>
            <a:ext cx="754380" cy="797243"/>
            <a:chOff x="0" y="0"/>
            <a:chExt cx="1005840" cy="10629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" cy="1062990"/>
            </a:xfrm>
            <a:custGeom>
              <a:avLst/>
              <a:gdLst/>
              <a:ahLst/>
              <a:cxnLst/>
              <a:rect r="r" b="b" t="t" l="l"/>
              <a:pathLst>
                <a:path h="106299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62990"/>
                  </a:lnTo>
                  <a:lnTo>
                    <a:pt x="0" y="10629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593" t="0" r="-8559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005840" cy="1120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6858000" y="3615690"/>
            <a:ext cx="4526280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0B3C49"/>
                </a:solidFill>
                <a:latin typeface="Cambria Bold"/>
                <a:ea typeface="Cambria Bold"/>
                <a:cs typeface="Cambria Bold"/>
                <a:sym typeface="Cambria Bold"/>
              </a:rPr>
              <a:t>ResNet-18, frozen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58000" y="4918710"/>
            <a:ext cx="452628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0B7A8A"/>
                </a:solidFill>
                <a:latin typeface="Cambria Bold"/>
                <a:ea typeface="Cambria Bold"/>
                <a:cs typeface="Cambria Bold"/>
                <a:sym typeface="Cambria Bold"/>
              </a:rPr>
              <a:t>7,182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58000" y="5802630"/>
            <a:ext cx="4526280" cy="57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trainable parameters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58000" y="6644640"/>
            <a:ext cx="4526280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ImageNet weights kept fixed. Only the final linear layer is trained (linear probe).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070080" y="2125980"/>
            <a:ext cx="5349240" cy="6995160"/>
            <a:chOff x="0" y="0"/>
            <a:chExt cx="7132320" cy="9326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32320" cy="9326880"/>
            </a:xfrm>
            <a:custGeom>
              <a:avLst/>
              <a:gdLst/>
              <a:ahLst/>
              <a:cxnLst/>
              <a:rect r="r" b="b" t="t" l="l"/>
              <a:pathLst>
                <a:path h="932688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9107424"/>
                  </a:lnTo>
                  <a:cubicBezTo>
                    <a:pt x="7132320" y="9228582"/>
                    <a:pt x="7034022" y="9326880"/>
                    <a:pt x="6912864" y="9326880"/>
                  </a:cubicBezTo>
                  <a:lnTo>
                    <a:pt x="219456" y="9326880"/>
                  </a:lnTo>
                  <a:cubicBezTo>
                    <a:pt x="98298" y="9326880"/>
                    <a:pt x="0" y="9228582"/>
                    <a:pt x="0" y="9107424"/>
                  </a:cubicBezTo>
                  <a:close/>
                </a:path>
              </a:pathLst>
            </a:custGeom>
            <a:solidFill>
              <a:srgbClr val="0B7A8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481560" y="2537460"/>
            <a:ext cx="754380" cy="754380"/>
            <a:chOff x="0" y="0"/>
            <a:chExt cx="100584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481560" y="2537460"/>
            <a:ext cx="754380" cy="754380"/>
            <a:chOff x="0" y="0"/>
            <a:chExt cx="100584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481560" y="2537460"/>
            <a:ext cx="754380" cy="797243"/>
            <a:chOff x="0" y="0"/>
            <a:chExt cx="1005840" cy="106299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5840" cy="1062990"/>
            </a:xfrm>
            <a:custGeom>
              <a:avLst/>
              <a:gdLst/>
              <a:ahLst/>
              <a:cxnLst/>
              <a:rect r="r" b="b" t="t" l="l"/>
              <a:pathLst>
                <a:path h="106299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62990"/>
                  </a:lnTo>
                  <a:lnTo>
                    <a:pt x="0" y="10629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593" t="0" r="-8559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1005840" cy="1120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B7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481560" y="3615690"/>
            <a:ext cx="4526280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ResNet-18, fine-tuned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481560" y="4918710"/>
            <a:ext cx="452628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11,183,694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481560" y="5802630"/>
            <a:ext cx="4526280" cy="57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trainable parameters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481560" y="6644640"/>
            <a:ext cx="4526280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ImageNet weights as the starting point. Every layer is trained at a low learning rate.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824960" y="9570720"/>
            <a:ext cx="50292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6737740" y="432473"/>
            <a:ext cx="829694" cy="1282617"/>
            <a:chOff x="0" y="0"/>
            <a:chExt cx="1106259" cy="171015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06297" cy="1710182"/>
            </a:xfrm>
            <a:custGeom>
              <a:avLst/>
              <a:gdLst/>
              <a:ahLst/>
              <a:cxnLst/>
              <a:rect r="r" b="b" t="t" l="l"/>
              <a:pathLst>
                <a:path h="1710182" w="1106297">
                  <a:moveTo>
                    <a:pt x="0" y="0"/>
                  </a:moveTo>
                  <a:lnTo>
                    <a:pt x="1106297" y="0"/>
                  </a:lnTo>
                  <a:lnTo>
                    <a:pt x="1106297" y="1710182"/>
                  </a:lnTo>
                  <a:lnTo>
                    <a:pt x="0" y="1710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0" t="0" r="-117" b="1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75819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751046"/>
            <a:ext cx="16596360" cy="1241584"/>
            <a:chOff x="0" y="0"/>
            <a:chExt cx="22128480" cy="16554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458" r="0" b="-2104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Experimental setup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22960" y="2125980"/>
          <a:ext cx="10096500" cy="4191000"/>
        </p:xfrm>
        <a:graphic>
          <a:graphicData uri="http://schemas.openxmlformats.org/drawingml/2006/table">
            <a:tbl>
              <a:tblPr/>
              <a:tblGrid>
                <a:gridCol w="3126725"/>
                <a:gridCol w="2055436"/>
                <a:gridCol w="2323258"/>
                <a:gridCol w="2591081"/>
              </a:tblGrid>
              <a:tr h="838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Setting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CNN scratch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ResNet frozen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ResNet fine-tuned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Learning rate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1e-3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1e-3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1e-4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Weight decay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1e-4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1e-4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1e-4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Max epochs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Training time (min)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160.6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98.0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99.9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11521440" y="2125980"/>
            <a:ext cx="5897880" cy="4251960"/>
            <a:chOff x="0" y="0"/>
            <a:chExt cx="7863840" cy="5669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63840" cy="5669280"/>
            </a:xfrm>
            <a:custGeom>
              <a:avLst/>
              <a:gdLst/>
              <a:ahLst/>
              <a:cxnLst/>
              <a:rect r="r" b="b" t="t" l="l"/>
              <a:pathLst>
                <a:path h="5669280" w="78638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644384" y="0"/>
                  </a:lnTo>
                  <a:cubicBezTo>
                    <a:pt x="7765542" y="0"/>
                    <a:pt x="7863840" y="98298"/>
                    <a:pt x="7863840" y="219456"/>
                  </a:cubicBezTo>
                  <a:lnTo>
                    <a:pt x="7863840" y="5449824"/>
                  </a:lnTo>
                  <a:cubicBezTo>
                    <a:pt x="7863840" y="5570982"/>
                    <a:pt x="7765542" y="5669280"/>
                    <a:pt x="7644384" y="5669280"/>
                  </a:cubicBezTo>
                  <a:lnTo>
                    <a:pt x="219456" y="5669280"/>
                  </a:lnTo>
                  <a:cubicBezTo>
                    <a:pt x="98298" y="5669280"/>
                    <a:pt x="0" y="5570982"/>
                    <a:pt x="0" y="544982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932920" y="2217420"/>
            <a:ext cx="521208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3C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Shared by all three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32920" y="2903220"/>
            <a:ext cx="5212080" cy="326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5059" indent="-158353" lvl="2">
              <a:lnSpc>
                <a:spcPts val="2700"/>
              </a:lnSpc>
              <a:buFont typeface="Arial"/>
              <a:buChar char="⚬"/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Adam optimiser</a:t>
            </a:r>
          </a:p>
          <a:p>
            <a:pPr algn="l" marL="475059" indent="-158353" lvl="2">
              <a:lnSpc>
                <a:spcPts val="2700"/>
              </a:lnSpc>
              <a:buFont typeface="Arial"/>
              <a:buChar char="⚬"/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ReduceLROnPlateau scheduler</a:t>
            </a:r>
          </a:p>
          <a:p>
            <a:pPr algn="l" marL="475059" indent="-158353" lvl="2">
              <a:lnSpc>
                <a:spcPts val="2700"/>
              </a:lnSpc>
              <a:buFont typeface="Arial"/>
              <a:buChar char="⚬"/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Batch size 32, input 224 x 224</a:t>
            </a:r>
          </a:p>
          <a:p>
            <a:pPr algn="l" marL="475059" indent="-158353" lvl="2">
              <a:lnSpc>
                <a:spcPts val="2700"/>
              </a:lnSpc>
              <a:buFont typeface="Arial"/>
              <a:buChar char="⚬"/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Weighted cross-entropy, seed 42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22960" y="6995160"/>
            <a:ext cx="8229600" cy="2194560"/>
            <a:chOff x="0" y="0"/>
            <a:chExt cx="10972800" cy="2926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9728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753344" y="0"/>
                  </a:lnTo>
                  <a:cubicBezTo>
                    <a:pt x="10874502" y="0"/>
                    <a:pt x="10972800" y="98298"/>
                    <a:pt x="10972800" y="219456"/>
                  </a:cubicBezTo>
                  <a:lnTo>
                    <a:pt x="10972800" y="2706624"/>
                  </a:lnTo>
                  <a:cubicBezTo>
                    <a:pt x="10972800" y="2827782"/>
                    <a:pt x="10874502" y="2926080"/>
                    <a:pt x="10753344" y="2926080"/>
                  </a:cubicBezTo>
                  <a:lnTo>
                    <a:pt x="219456" y="2926080"/>
                  </a:lnTo>
                  <a:cubicBezTo>
                    <a:pt x="98298" y="2926080"/>
                    <a:pt x="0" y="2827782"/>
                    <a:pt x="0" y="270662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34440" y="7086600"/>
            <a:ext cx="740664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3C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Best checkpoint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4440" y="7703820"/>
            <a:ext cx="7406640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Saved at the lowest validation loss, then evaluated once on the test set.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326880" y="6995160"/>
            <a:ext cx="8092440" cy="2194560"/>
            <a:chOff x="0" y="0"/>
            <a:chExt cx="10789920" cy="2926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899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789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570464" y="0"/>
                  </a:lnTo>
                  <a:cubicBezTo>
                    <a:pt x="10691622" y="0"/>
                    <a:pt x="10789920" y="98298"/>
                    <a:pt x="10789920" y="219456"/>
                  </a:cubicBezTo>
                  <a:lnTo>
                    <a:pt x="10789920" y="2706624"/>
                  </a:lnTo>
                  <a:cubicBezTo>
                    <a:pt x="10789920" y="2827782"/>
                    <a:pt x="10691622" y="2926080"/>
                    <a:pt x="10570464" y="2926080"/>
                  </a:cubicBezTo>
                  <a:lnTo>
                    <a:pt x="219456" y="2926080"/>
                  </a:lnTo>
                  <a:cubicBezTo>
                    <a:pt x="98298" y="2926080"/>
                    <a:pt x="0" y="2827782"/>
                    <a:pt x="0" y="270662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738360" y="7086600"/>
            <a:ext cx="726948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3C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Metrics and hardware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38360" y="7703820"/>
            <a:ext cx="7269480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Accuracy, macro-F1, macro-precision, macro-recall. Tesla T4 GPU, PyTorch.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824960" y="9570720"/>
            <a:ext cx="50292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737740" y="432473"/>
            <a:ext cx="829694" cy="1282617"/>
            <a:chOff x="0" y="0"/>
            <a:chExt cx="1106259" cy="171015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6297" cy="1710182"/>
            </a:xfrm>
            <a:custGeom>
              <a:avLst/>
              <a:gdLst/>
              <a:ahLst/>
              <a:cxnLst/>
              <a:rect r="r" b="b" t="t" l="l"/>
              <a:pathLst>
                <a:path h="1710182" w="1106297">
                  <a:moveTo>
                    <a:pt x="0" y="0"/>
                  </a:moveTo>
                  <a:lnTo>
                    <a:pt x="1106297" y="0"/>
                  </a:lnTo>
                  <a:lnTo>
                    <a:pt x="1106297" y="1710182"/>
                  </a:lnTo>
                  <a:lnTo>
                    <a:pt x="0" y="1710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0" t="0" r="-117" b="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72916"/>
            <a:ext cx="16596360" cy="1241584"/>
            <a:chOff x="0" y="0"/>
            <a:chExt cx="22128480" cy="16554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458" r="0" b="-2104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Hyperparameter tuning</a:t>
              </a: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46888" y="987552"/>
            <a:ext cx="12838176" cy="9272016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11795760" y="2057400"/>
            <a:ext cx="5623560" cy="7132320"/>
            <a:chOff x="0" y="0"/>
            <a:chExt cx="7498080" cy="9509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98080" cy="9509761"/>
            </a:xfrm>
            <a:custGeom>
              <a:avLst/>
              <a:gdLst/>
              <a:ahLst/>
              <a:cxnLst/>
              <a:rect r="r" b="b" t="t" l="l"/>
              <a:pathLst>
                <a:path h="9509761" w="74980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278624" y="0"/>
                  </a:lnTo>
                  <a:cubicBezTo>
                    <a:pt x="7399782" y="0"/>
                    <a:pt x="7498080" y="98298"/>
                    <a:pt x="7498080" y="219456"/>
                  </a:cubicBezTo>
                  <a:lnTo>
                    <a:pt x="7498080" y="9290304"/>
                  </a:lnTo>
                  <a:cubicBezTo>
                    <a:pt x="7498080" y="9411462"/>
                    <a:pt x="7399782" y="9509761"/>
                    <a:pt x="7278624" y="9509761"/>
                  </a:cubicBezTo>
                  <a:lnTo>
                    <a:pt x="219456" y="9509761"/>
                  </a:lnTo>
                  <a:cubicBezTo>
                    <a:pt x="98298" y="9509760"/>
                    <a:pt x="0" y="9411462"/>
                    <a:pt x="0" y="929030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207240" y="2198370"/>
            <a:ext cx="48006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B3C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we learned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07240" y="3078480"/>
            <a:ext cx="4800600" cy="487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168910" lvl="2">
              <a:lnSpc>
                <a:spcPts val="2878"/>
              </a:lnSpc>
              <a:buFont typeface="Arial"/>
              <a:buChar char="⚬"/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Best: lr 5e-5 to 1e-4 (0.728 and 0.722)</a:t>
            </a:r>
          </a:p>
          <a:p>
            <a:pPr algn="l" marL="506730" indent="-168910" lvl="2">
              <a:lnSpc>
                <a:spcPts val="2878"/>
              </a:lnSpc>
              <a:buFont typeface="Arial"/>
              <a:buChar char="⚬"/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Smaller lr learned too slowly: 5e-6 = 0.590, 1e-6 = 0.386</a:t>
            </a:r>
          </a:p>
          <a:p>
            <a:pPr algn="l" marL="506730" indent="-168910" lvl="2">
              <a:lnSpc>
                <a:spcPts val="2878"/>
              </a:lnSpc>
              <a:buFont typeface="Arial"/>
              <a:buChar char="⚬"/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Removing weight decay lowered the score (0.697)</a:t>
            </a:r>
          </a:p>
          <a:p>
            <a:pPr algn="l" marL="506730" indent="-168910" lvl="2">
              <a:lnSpc>
                <a:spcPts val="2878"/>
              </a:lnSpc>
              <a:buFont typeface="Arial"/>
              <a:buChar char="⚬"/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We kept lr 1e-4; the gap to 5e-5 is within noise (single seed)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24960" y="9570720"/>
            <a:ext cx="50292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737740" y="432473"/>
            <a:ext cx="829694" cy="1282617"/>
            <a:chOff x="0" y="0"/>
            <a:chExt cx="1106259" cy="171015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6297" cy="1710182"/>
            </a:xfrm>
            <a:custGeom>
              <a:avLst/>
              <a:gdLst/>
              <a:ahLst/>
              <a:cxnLst/>
              <a:rect r="r" b="b" t="t" l="l"/>
              <a:pathLst>
                <a:path h="1710182" w="1106297">
                  <a:moveTo>
                    <a:pt x="0" y="0"/>
                  </a:moveTo>
                  <a:lnTo>
                    <a:pt x="1106297" y="0"/>
                  </a:lnTo>
                  <a:lnTo>
                    <a:pt x="1106297" y="1710182"/>
                  </a:lnTo>
                  <a:lnTo>
                    <a:pt x="0" y="1710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0" t="0" r="-117" b="1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4706" y="826789"/>
            <a:ext cx="16596360" cy="1061695"/>
            <a:chOff x="0" y="0"/>
            <a:chExt cx="22128480" cy="1415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415542"/>
            </a:xfrm>
            <a:custGeom>
              <a:avLst/>
              <a:gdLst/>
              <a:ahLst/>
              <a:cxnLst/>
              <a:rect r="r" b="b" t="t" l="l"/>
              <a:pathLst>
                <a:path h="1415542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15542"/>
                  </a:lnTo>
                  <a:lnTo>
                    <a:pt x="0" y="141554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4386" r="0" b="-25438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44706" y="819645"/>
            <a:ext cx="16596360" cy="1068838"/>
            <a:chOff x="0" y="0"/>
            <a:chExt cx="22128480" cy="14251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425118"/>
            </a:xfrm>
            <a:custGeom>
              <a:avLst/>
              <a:gdLst/>
              <a:ahLst/>
              <a:cxnLst/>
              <a:rect r="r" b="b" t="t" l="l"/>
              <a:pathLst>
                <a:path h="1425118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25118"/>
                  </a:lnTo>
                  <a:lnTo>
                    <a:pt x="0" y="14251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553" r="0" b="-25255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128480" cy="1434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Results on the test set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22960" y="2560320"/>
          <a:ext cx="16459200" cy="6057900"/>
        </p:xfrm>
        <a:graphic>
          <a:graphicData uri="http://schemas.openxmlformats.org/drawingml/2006/table">
            <a:tbl>
              <a:tblPr/>
              <a:tblGrid>
                <a:gridCol w="3913180"/>
                <a:gridCol w="1913230"/>
                <a:gridCol w="1913230"/>
                <a:gridCol w="2046560"/>
                <a:gridCol w="2179890"/>
                <a:gridCol w="2579880"/>
                <a:gridCol w="1913230"/>
              </a:tblGrid>
              <a:tr h="11410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Approach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Macro-F1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Macro-Prec.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Macro-Recall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Trainable params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Time (min)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16389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1. CNN from scratch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0.5822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0.5205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0.5053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0.6123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392,974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160.6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89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2. ResNet-18 frozen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0.6184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0.5415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0.5179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0.6074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7,182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98.0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89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3. ResNet-18 fine-tuned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8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0.8419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8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0.8330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8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0.8117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8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0.8607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8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11,183,694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8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99.9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AEE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6824960" y="9570720"/>
            <a:ext cx="50292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737740" y="432473"/>
            <a:ext cx="829694" cy="1282617"/>
            <a:chOff x="0" y="0"/>
            <a:chExt cx="1106259" cy="17101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6297" cy="1710182"/>
            </a:xfrm>
            <a:custGeom>
              <a:avLst/>
              <a:gdLst/>
              <a:ahLst/>
              <a:cxnLst/>
              <a:rect r="r" b="b" t="t" l="l"/>
              <a:pathLst>
                <a:path h="1710182" w="1106297">
                  <a:moveTo>
                    <a:pt x="0" y="0"/>
                  </a:moveTo>
                  <a:lnTo>
                    <a:pt x="1106297" y="0"/>
                  </a:lnTo>
                  <a:lnTo>
                    <a:pt x="1106297" y="1710182"/>
                  </a:lnTo>
                  <a:lnTo>
                    <a:pt x="0" y="1710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0" t="0" r="-117" b="1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6735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39591"/>
            <a:ext cx="16596360" cy="1241584"/>
            <a:chOff x="0" y="0"/>
            <a:chExt cx="22128480" cy="16554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458" r="0" b="-2104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Fine-tuning clearly wins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2057400"/>
            <a:ext cx="10753344" cy="6720840"/>
            <a:chOff x="0" y="0"/>
            <a:chExt cx="14337792" cy="8961120"/>
          </a:xfrm>
        </p:grpSpPr>
        <p:sp>
          <p:nvSpPr>
            <p:cNvPr name="Freeform 8" id="8" descr="Bar chart of test accuracy and macro-F1 for the three approaches"/>
            <p:cNvSpPr/>
            <p:nvPr/>
          </p:nvSpPr>
          <p:spPr>
            <a:xfrm flipH="false" flipV="false" rot="0">
              <a:off x="0" y="0"/>
              <a:ext cx="14337792" cy="8961120"/>
            </a:xfrm>
            <a:custGeom>
              <a:avLst/>
              <a:gdLst/>
              <a:ahLst/>
              <a:cxnLst/>
              <a:rect r="r" b="b" t="t" l="l"/>
              <a:pathLst>
                <a:path h="8961120" w="14337792">
                  <a:moveTo>
                    <a:pt x="0" y="0"/>
                  </a:moveTo>
                  <a:lnTo>
                    <a:pt x="14337792" y="0"/>
                  </a:lnTo>
                  <a:lnTo>
                    <a:pt x="14337792" y="8961120"/>
                  </a:lnTo>
                  <a:lnTo>
                    <a:pt x="0" y="896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22960" y="8839200"/>
            <a:ext cx="10753344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Figure: test accuracy and macro-F1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070080" y="2057400"/>
            <a:ext cx="5349240" cy="6720840"/>
            <a:chOff x="0" y="0"/>
            <a:chExt cx="7132320" cy="896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32320" cy="8961120"/>
            </a:xfrm>
            <a:custGeom>
              <a:avLst/>
              <a:gdLst/>
              <a:ahLst/>
              <a:cxnLst/>
              <a:rect r="r" b="b" t="t" l="l"/>
              <a:pathLst>
                <a:path h="896112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8741664"/>
                  </a:lnTo>
                  <a:cubicBezTo>
                    <a:pt x="7132320" y="8862822"/>
                    <a:pt x="7034022" y="8961120"/>
                    <a:pt x="6912864" y="8961120"/>
                  </a:cubicBezTo>
                  <a:lnTo>
                    <a:pt x="219456" y="8961120"/>
                  </a:lnTo>
                  <a:cubicBezTo>
                    <a:pt x="98298" y="8961120"/>
                    <a:pt x="0" y="8862822"/>
                    <a:pt x="0" y="874166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412980" y="2324100"/>
            <a:ext cx="4663440" cy="611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168910" lvl="2">
              <a:lnSpc>
                <a:spcPts val="2878"/>
              </a:lnSpc>
              <a:buFont typeface="Arial"/>
              <a:buChar char="⚬"/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Fine-tuned: 0.842 accuracy, 0.833 macro-F1</a:t>
            </a:r>
          </a:p>
          <a:p>
            <a:pPr algn="l" marL="506730" indent="-168910" lvl="2">
              <a:lnSpc>
                <a:spcPts val="2878"/>
              </a:lnSpc>
              <a:buFont typeface="Arial"/>
              <a:buChar char="⚬"/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Frozen and scratch models both stay near 0.6 accuracy</a:t>
            </a:r>
          </a:p>
          <a:p>
            <a:pPr algn="l" marL="506730" indent="-168910" lvl="2">
              <a:lnSpc>
                <a:spcPts val="2878"/>
              </a:lnSpc>
              <a:buFont typeface="Arial"/>
              <a:buChar char="⚬"/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The scratch CNN was the slowest to train (160.6 min)</a:t>
            </a:r>
          </a:p>
          <a:p>
            <a:pPr algn="l" marL="506730" indent="-168910" lvl="2">
              <a:lnSpc>
                <a:spcPts val="2878"/>
              </a:lnSpc>
              <a:buFont typeface="Arial"/>
              <a:buChar char="⚬"/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The fine-tuned model has a small gap between accuracy and macro-F1, so rare classes are handled better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24960" y="9570720"/>
            <a:ext cx="50292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737740" y="432473"/>
            <a:ext cx="829694" cy="1282617"/>
            <a:chOff x="0" y="0"/>
            <a:chExt cx="1106259" cy="17101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6297" cy="1710182"/>
            </a:xfrm>
            <a:custGeom>
              <a:avLst/>
              <a:gdLst/>
              <a:ahLst/>
              <a:cxnLst/>
              <a:rect r="r" b="b" t="t" l="l"/>
              <a:pathLst>
                <a:path h="1710182" w="1106297">
                  <a:moveTo>
                    <a:pt x="0" y="0"/>
                  </a:moveTo>
                  <a:lnTo>
                    <a:pt x="1106297" y="0"/>
                  </a:lnTo>
                  <a:lnTo>
                    <a:pt x="1106297" y="1710182"/>
                  </a:lnTo>
                  <a:lnTo>
                    <a:pt x="0" y="1710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0" t="0" r="-117" b="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72916"/>
            <a:ext cx="16596360" cy="1241584"/>
            <a:chOff x="0" y="0"/>
            <a:chExt cx="22128480" cy="16554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458" r="0" b="-2104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Learning curves: overfitting and underfitting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920240"/>
            <a:ext cx="16596360" cy="4608576"/>
            <a:chOff x="0" y="0"/>
            <a:chExt cx="22128480" cy="6144768"/>
          </a:xfrm>
        </p:grpSpPr>
        <p:sp>
          <p:nvSpPr>
            <p:cNvPr name="Freeform 8" id="8" descr="Training loss, validation loss and validation macro-F1 curves for the three approaches"/>
            <p:cNvSpPr/>
            <p:nvPr/>
          </p:nvSpPr>
          <p:spPr>
            <a:xfrm flipH="false" flipV="false" rot="0">
              <a:off x="0" y="0"/>
              <a:ext cx="22128480" cy="6144768"/>
            </a:xfrm>
            <a:custGeom>
              <a:avLst/>
              <a:gdLst/>
              <a:ahLst/>
              <a:cxnLst/>
              <a:rect r="r" b="b" t="t" l="l"/>
              <a:pathLst>
                <a:path h="6144768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" r="0" b="-1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6858000"/>
            <a:ext cx="5349240" cy="2537460"/>
            <a:chOff x="0" y="0"/>
            <a:chExt cx="7132320" cy="3383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323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3163824"/>
                  </a:lnTo>
                  <a:cubicBezTo>
                    <a:pt x="7132320" y="3284982"/>
                    <a:pt x="7034022" y="3383280"/>
                    <a:pt x="6912864" y="3383280"/>
                  </a:cubicBezTo>
                  <a:lnTo>
                    <a:pt x="219456" y="3383280"/>
                  </a:lnTo>
                  <a:cubicBezTo>
                    <a:pt x="98298" y="3383280"/>
                    <a:pt x="0" y="3284982"/>
                    <a:pt x="0" y="316382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65860" y="6946392"/>
            <a:ext cx="466344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0B3C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CNN scratch: underfitting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5860" y="7517130"/>
            <a:ext cx="4663440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Loss is still falling at the end, so it is undertrained or capacity-limited.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446520" y="6858000"/>
            <a:ext cx="5349240" cy="2537460"/>
            <a:chOff x="0" y="0"/>
            <a:chExt cx="7132320" cy="3383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323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3163824"/>
                  </a:lnTo>
                  <a:cubicBezTo>
                    <a:pt x="7132320" y="3284982"/>
                    <a:pt x="7034022" y="3383280"/>
                    <a:pt x="6912864" y="3383280"/>
                  </a:cubicBezTo>
                  <a:lnTo>
                    <a:pt x="219456" y="3383280"/>
                  </a:lnTo>
                  <a:cubicBezTo>
                    <a:pt x="98298" y="3383280"/>
                    <a:pt x="0" y="3284982"/>
                    <a:pt x="0" y="316382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789420" y="6946392"/>
            <a:ext cx="466344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0B3C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Frozen ResNet: plateau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89420" y="7517130"/>
            <a:ext cx="4663440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Plateaus early with a noisy validation curve. Limited by the fixed features.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70080" y="6858000"/>
            <a:ext cx="5349240" cy="2537460"/>
            <a:chOff x="0" y="0"/>
            <a:chExt cx="7132320" cy="3383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323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3163824"/>
                  </a:lnTo>
                  <a:cubicBezTo>
                    <a:pt x="7132320" y="3284982"/>
                    <a:pt x="7034022" y="3383280"/>
                    <a:pt x="6912864" y="3383280"/>
                  </a:cubicBezTo>
                  <a:lnTo>
                    <a:pt x="219456" y="3383280"/>
                  </a:lnTo>
                  <a:cubicBezTo>
                    <a:pt x="98298" y="3383280"/>
                    <a:pt x="0" y="3284982"/>
                    <a:pt x="0" y="3163824"/>
                  </a:cubicBezTo>
                  <a:close/>
                </a:path>
              </a:pathLst>
            </a:custGeom>
            <a:solidFill>
              <a:srgbClr val="0B7A8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412980" y="6946392"/>
            <a:ext cx="466344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Fine-tuned: mild overfitting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12980" y="7517130"/>
            <a:ext cx="4663440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Train loss 0.23 vs val loss 0.44. Val loss is still lowest at the saved best epoch.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824960" y="9570720"/>
            <a:ext cx="50292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737740" y="432473"/>
            <a:ext cx="829694" cy="1282617"/>
            <a:chOff x="0" y="0"/>
            <a:chExt cx="1106259" cy="171015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6297" cy="1710182"/>
            </a:xfrm>
            <a:custGeom>
              <a:avLst/>
              <a:gdLst/>
              <a:ahLst/>
              <a:cxnLst/>
              <a:rect r="r" b="b" t="t" l="l"/>
              <a:pathLst>
                <a:path h="1710182" w="1106297">
                  <a:moveTo>
                    <a:pt x="0" y="0"/>
                  </a:moveTo>
                  <a:lnTo>
                    <a:pt x="1106297" y="0"/>
                  </a:lnTo>
                  <a:lnTo>
                    <a:pt x="1106297" y="1710182"/>
                  </a:lnTo>
                  <a:lnTo>
                    <a:pt x="0" y="1710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0" t="0" r="-117" b="1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72916"/>
            <a:ext cx="16596360" cy="1241584"/>
            <a:chOff x="0" y="0"/>
            <a:chExt cx="22128480" cy="16554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458" r="0" b="-2104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Error analysis: confusion matrix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988820"/>
            <a:ext cx="9052560" cy="7242048"/>
            <a:chOff x="0" y="0"/>
            <a:chExt cx="12070080" cy="9656064"/>
          </a:xfrm>
        </p:grpSpPr>
        <p:sp>
          <p:nvSpPr>
            <p:cNvPr name="Freeform 8" id="8" descr="Confusion matrix of the fine-tuned ResNet-18 on the test set"/>
            <p:cNvSpPr/>
            <p:nvPr/>
          </p:nvSpPr>
          <p:spPr>
            <a:xfrm flipH="false" flipV="false" rot="0">
              <a:off x="0" y="0"/>
              <a:ext cx="12070080" cy="9656064"/>
            </a:xfrm>
            <a:custGeom>
              <a:avLst/>
              <a:gdLst/>
              <a:ahLst/>
              <a:cxnLst/>
              <a:rect r="r" b="b" t="t" l="l"/>
              <a:pathLst>
                <a:path h="9656064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9656064"/>
                  </a:lnTo>
                  <a:lnTo>
                    <a:pt x="0" y="9656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424160" y="1988820"/>
            <a:ext cx="6995160" cy="2331720"/>
            <a:chOff x="0" y="0"/>
            <a:chExt cx="9326880" cy="31089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268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9326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107424" y="0"/>
                  </a:lnTo>
                  <a:cubicBezTo>
                    <a:pt x="9228582" y="0"/>
                    <a:pt x="9326880" y="98298"/>
                    <a:pt x="9326880" y="219456"/>
                  </a:cubicBezTo>
                  <a:lnTo>
                    <a:pt x="9326880" y="2889504"/>
                  </a:lnTo>
                  <a:cubicBezTo>
                    <a:pt x="9326880" y="3010662"/>
                    <a:pt x="9228582" y="3108960"/>
                    <a:pt x="9107424" y="3108960"/>
                  </a:cubicBezTo>
                  <a:lnTo>
                    <a:pt x="219456" y="3108960"/>
                  </a:lnTo>
                  <a:cubicBezTo>
                    <a:pt x="98298" y="3108960"/>
                    <a:pt x="0" y="3010662"/>
                    <a:pt x="0" y="2889504"/>
                  </a:cubicBezTo>
                  <a:close/>
                </a:path>
              </a:pathLst>
            </a:custGeom>
            <a:solidFill>
              <a:srgbClr val="0B6657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767060" y="2188845"/>
            <a:ext cx="63093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Nevi and melanoma mix 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67060" y="2697480"/>
            <a:ext cx="6309360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124 nevi predicted as melanoma, 75 melanoma predicted as nevi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424160" y="4594860"/>
            <a:ext cx="6995160" cy="2194560"/>
            <a:chOff x="0" y="0"/>
            <a:chExt cx="9326880" cy="2926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268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9326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107424" y="0"/>
                  </a:lnTo>
                  <a:cubicBezTo>
                    <a:pt x="9228582" y="0"/>
                    <a:pt x="9326880" y="98298"/>
                    <a:pt x="9326880" y="219456"/>
                  </a:cubicBezTo>
                  <a:lnTo>
                    <a:pt x="9326880" y="2706624"/>
                  </a:lnTo>
                  <a:cubicBezTo>
                    <a:pt x="9326880" y="2827782"/>
                    <a:pt x="9228582" y="2926080"/>
                    <a:pt x="9107424" y="2926080"/>
                  </a:cubicBezTo>
                  <a:lnTo>
                    <a:pt x="219456" y="2926080"/>
                  </a:lnTo>
                  <a:cubicBezTo>
                    <a:pt x="98298" y="2926080"/>
                    <a:pt x="0" y="2827782"/>
                    <a:pt x="0" y="270662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767060" y="4783455"/>
            <a:ext cx="63093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3C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Actinic keratoses (F1 0.57)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67060" y="5303520"/>
            <a:ext cx="6309360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Only 50 of 88 correct; the rest spread to basal cell, benign keratosis, SCC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424160" y="7063740"/>
            <a:ext cx="6995160" cy="2167128"/>
            <a:chOff x="0" y="0"/>
            <a:chExt cx="9326880" cy="28895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26880" cy="2889504"/>
            </a:xfrm>
            <a:custGeom>
              <a:avLst/>
              <a:gdLst/>
              <a:ahLst/>
              <a:cxnLst/>
              <a:rect r="r" b="b" t="t" l="l"/>
              <a:pathLst>
                <a:path h="2889504" w="9326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107424" y="0"/>
                  </a:lnTo>
                  <a:cubicBezTo>
                    <a:pt x="9228582" y="0"/>
                    <a:pt x="9326880" y="98298"/>
                    <a:pt x="9326880" y="219456"/>
                  </a:cubicBezTo>
                  <a:lnTo>
                    <a:pt x="9326880" y="2670048"/>
                  </a:lnTo>
                  <a:cubicBezTo>
                    <a:pt x="9326880" y="2791206"/>
                    <a:pt x="9228582" y="2889504"/>
                    <a:pt x="9107424" y="2889504"/>
                  </a:cubicBezTo>
                  <a:lnTo>
                    <a:pt x="219456" y="2889504"/>
                  </a:lnTo>
                  <a:cubicBezTo>
                    <a:pt x="98298" y="2889504"/>
                    <a:pt x="0" y="2791206"/>
                    <a:pt x="0" y="2670048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767060" y="7256145"/>
            <a:ext cx="63093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3C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Viral classes are strong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67060" y="7772400"/>
            <a:ext cx="6309360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Chickenpox, cowpox, HFMD, measles, monkeypox and healthy: F1 0.96 to 0.99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824960" y="9570720"/>
            <a:ext cx="50292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737740" y="432473"/>
            <a:ext cx="829694" cy="1282617"/>
            <a:chOff x="0" y="0"/>
            <a:chExt cx="1106259" cy="171015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6297" cy="1710182"/>
            </a:xfrm>
            <a:custGeom>
              <a:avLst/>
              <a:gdLst/>
              <a:ahLst/>
              <a:cxnLst/>
              <a:rect r="r" b="b" t="t" l="l"/>
              <a:pathLst>
                <a:path h="1710182" w="1106297">
                  <a:moveTo>
                    <a:pt x="0" y="0"/>
                  </a:moveTo>
                  <a:lnTo>
                    <a:pt x="1106297" y="0"/>
                  </a:lnTo>
                  <a:lnTo>
                    <a:pt x="1106297" y="1710182"/>
                  </a:lnTo>
                  <a:lnTo>
                    <a:pt x="0" y="1710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0" t="0" r="-117" b="1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80263"/>
            <a:ext cx="9577226" cy="1627632"/>
            <a:chOff x="0" y="0"/>
            <a:chExt cx="12769634" cy="21701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69596" cy="2170176"/>
            </a:xfrm>
            <a:custGeom>
              <a:avLst/>
              <a:gdLst/>
              <a:ahLst/>
              <a:cxnLst/>
              <a:rect r="r" b="b" t="t" l="l"/>
              <a:pathLst>
                <a:path h="2170176" w="12769596">
                  <a:moveTo>
                    <a:pt x="0" y="0"/>
                  </a:moveTo>
                  <a:lnTo>
                    <a:pt x="12769596" y="0"/>
                  </a:lnTo>
                  <a:lnTo>
                    <a:pt x="12769596" y="2170176"/>
                  </a:lnTo>
                  <a:lnTo>
                    <a:pt x="0" y="21701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573" r="0" b="-645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65976"/>
            <a:ext cx="9577226" cy="1641920"/>
            <a:chOff x="0" y="0"/>
            <a:chExt cx="12769634" cy="21892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69638" cy="2189226"/>
            </a:xfrm>
            <a:custGeom>
              <a:avLst/>
              <a:gdLst/>
              <a:ahLst/>
              <a:cxnLst/>
              <a:rect r="r" b="b" t="t" l="l"/>
              <a:pathLst>
                <a:path h="2189226" w="12769638">
                  <a:moveTo>
                    <a:pt x="0" y="0"/>
                  </a:moveTo>
                  <a:lnTo>
                    <a:pt x="12769638" y="0"/>
                  </a:lnTo>
                  <a:lnTo>
                    <a:pt x="12769638" y="2189226"/>
                  </a:lnTo>
                  <a:lnTo>
                    <a:pt x="0" y="21892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55" r="0" b="-636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2769634" cy="22082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Why fine-tuning won, and an informal ensembling check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22960" y="1998345"/>
            <a:ext cx="877824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E457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it won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2960" y="3291840"/>
            <a:ext cx="754380" cy="754380"/>
            <a:chOff x="0" y="0"/>
            <a:chExt cx="100584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B7A8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3291840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3270409"/>
            <a:ext cx="754380" cy="797243"/>
            <a:chOff x="0" y="0"/>
            <a:chExt cx="1005840" cy="10629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" cy="1062990"/>
            </a:xfrm>
            <a:custGeom>
              <a:avLst/>
              <a:gdLst/>
              <a:ahLst/>
              <a:cxnLst/>
              <a:rect r="r" b="b" t="t" l="l"/>
              <a:pathLst>
                <a:path h="106299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62990"/>
                  </a:lnTo>
                  <a:lnTo>
                    <a:pt x="0" y="10629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593" t="0" r="-8559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005840" cy="1120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920240" y="3177540"/>
            <a:ext cx="76809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B2A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Frozen ImageNet features transfer poorly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20240" y="3794760"/>
            <a:ext cx="7680960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Domain gap: skin photos differ from ImageNet, so a linear head on fixed features tops out at 0.618.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22960" y="5349240"/>
            <a:ext cx="754380" cy="754380"/>
            <a:chOff x="0" y="0"/>
            <a:chExt cx="1005840" cy="1005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B7A8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5349240"/>
            <a:ext cx="754380" cy="754380"/>
            <a:chOff x="0" y="0"/>
            <a:chExt cx="100584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5327809"/>
            <a:ext cx="754380" cy="797243"/>
            <a:chOff x="0" y="0"/>
            <a:chExt cx="1005840" cy="10629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" cy="1062990"/>
            </a:xfrm>
            <a:custGeom>
              <a:avLst/>
              <a:gdLst/>
              <a:ahLst/>
              <a:cxnLst/>
              <a:rect r="r" b="b" t="t" l="l"/>
              <a:pathLst>
                <a:path h="106299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62990"/>
                  </a:lnTo>
                  <a:lnTo>
                    <a:pt x="0" y="10629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593" t="0" r="-8559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005840" cy="1120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920240" y="5234940"/>
            <a:ext cx="76809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B2A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Every layer adapts to skin images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20240" y="5852160"/>
            <a:ext cx="7680960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Pretrained start plus 11.2M trainable weights, versus 393k for the scratch CNN.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22960" y="7406640"/>
            <a:ext cx="754380" cy="754380"/>
            <a:chOff x="0" y="0"/>
            <a:chExt cx="1005840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B7A8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7406640"/>
            <a:ext cx="754380" cy="754380"/>
            <a:chOff x="0" y="0"/>
            <a:chExt cx="100584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7385209"/>
            <a:ext cx="754380" cy="797243"/>
            <a:chOff x="0" y="0"/>
            <a:chExt cx="1005840" cy="106299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" cy="1062990"/>
            </a:xfrm>
            <a:custGeom>
              <a:avLst/>
              <a:gdLst/>
              <a:ahLst/>
              <a:cxnLst/>
              <a:rect r="r" b="b" t="t" l="l"/>
              <a:pathLst>
                <a:path h="106299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62990"/>
                  </a:lnTo>
                  <a:lnTo>
                    <a:pt x="0" y="10629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593" t="0" r="-8559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005840" cy="1120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920240" y="7292340"/>
            <a:ext cx="76809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B2A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tuned, gentle learning rate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20240" y="7909560"/>
            <a:ext cx="7680960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lr 1e-4 won the tuning runs and keeps pretrained knowledge intact.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287000" y="2057400"/>
            <a:ext cx="7132320" cy="7132320"/>
            <a:chOff x="0" y="0"/>
            <a:chExt cx="9509760" cy="95097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509761" cy="9509761"/>
            </a:xfrm>
            <a:custGeom>
              <a:avLst/>
              <a:gdLst/>
              <a:ahLst/>
              <a:cxnLst/>
              <a:rect r="r" b="b" t="t" l="l"/>
              <a:pathLst>
                <a:path h="9509761" w="95097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290304" y="0"/>
                  </a:lnTo>
                  <a:cubicBezTo>
                    <a:pt x="9411462" y="0"/>
                    <a:pt x="9509761" y="98298"/>
                    <a:pt x="9509761" y="219456"/>
                  </a:cubicBezTo>
                  <a:lnTo>
                    <a:pt x="9509761" y="9290304"/>
                  </a:lnTo>
                  <a:cubicBezTo>
                    <a:pt x="9509761" y="9411462"/>
                    <a:pt x="9411462" y="9509761"/>
                    <a:pt x="9290304" y="9509761"/>
                  </a:cubicBezTo>
                  <a:lnTo>
                    <a:pt x="219456" y="9509761"/>
                  </a:lnTo>
                  <a:cubicBezTo>
                    <a:pt x="98298" y="9509760"/>
                    <a:pt x="0" y="9411462"/>
                    <a:pt x="0" y="9290304"/>
                  </a:cubicBezTo>
                  <a:close/>
                </a:path>
              </a:pathLst>
            </a:custGeom>
            <a:solidFill>
              <a:srgbClr val="085954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698480" y="2472690"/>
            <a:ext cx="630936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Informal ensembling check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698480" y="3684270"/>
            <a:ext cx="2543651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99.62%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698480" y="4549140"/>
            <a:ext cx="63093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EAF2F4"/>
                </a:solidFill>
                <a:latin typeface="Calibri (MS)"/>
                <a:ea typeface="Calibri (MS)"/>
                <a:cs typeface="Calibri (MS)"/>
                <a:sym typeface="Calibri (MS)"/>
              </a:rPr>
              <a:t>fine-tuned model alone, one example photo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698480" y="5991225"/>
            <a:ext cx="2543651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true">
                <a:solidFill>
                  <a:srgbClr val="F2A541"/>
                </a:solidFill>
                <a:latin typeface="Cambria Bold"/>
                <a:ea typeface="Cambria Bold"/>
                <a:cs typeface="Cambria Bold"/>
                <a:sym typeface="Cambria Bold"/>
              </a:rPr>
              <a:t>56.68%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698480" y="6743700"/>
            <a:ext cx="63093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EAF2F4"/>
                </a:solidFill>
                <a:latin typeface="Calibri (MS)"/>
                <a:ea typeface="Calibri (MS)"/>
                <a:cs typeface="Calibri (MS)"/>
                <a:sym typeface="Calibri (MS)"/>
              </a:rPr>
              <a:t>equal-weight ensemble of all three, same photo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698480" y="7799070"/>
            <a:ext cx="63093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Here the weak CNN diluted the strong model. Not tested on the full test set.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824960" y="9570720"/>
            <a:ext cx="50292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6737740" y="432473"/>
            <a:ext cx="829694" cy="1282617"/>
            <a:chOff x="0" y="0"/>
            <a:chExt cx="1106259" cy="171015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06297" cy="1710182"/>
            </a:xfrm>
            <a:custGeom>
              <a:avLst/>
              <a:gdLst/>
              <a:ahLst/>
              <a:cxnLst/>
              <a:rect r="r" b="b" t="t" l="l"/>
              <a:pathLst>
                <a:path h="1710182" w="1106297">
                  <a:moveTo>
                    <a:pt x="0" y="0"/>
                  </a:moveTo>
                  <a:lnTo>
                    <a:pt x="1106297" y="0"/>
                  </a:lnTo>
                  <a:lnTo>
                    <a:pt x="1106297" y="1710182"/>
                  </a:lnTo>
                  <a:lnTo>
                    <a:pt x="0" y="1710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0" t="0" r="-117" b="1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72916"/>
            <a:ext cx="16596360" cy="1241584"/>
            <a:chOff x="0" y="0"/>
            <a:chExt cx="22128480" cy="16554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458" r="0" b="-2104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Limitations and future work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2057400"/>
            <a:ext cx="8161020" cy="7132320"/>
            <a:chOff x="0" y="0"/>
            <a:chExt cx="10881360" cy="9509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81361" cy="9509761"/>
            </a:xfrm>
            <a:custGeom>
              <a:avLst/>
              <a:gdLst/>
              <a:ahLst/>
              <a:cxnLst/>
              <a:rect r="r" b="b" t="t" l="l"/>
              <a:pathLst>
                <a:path h="9509761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9290304"/>
                  </a:lnTo>
                  <a:cubicBezTo>
                    <a:pt x="10881361" y="9411462"/>
                    <a:pt x="10783062" y="9509761"/>
                    <a:pt x="10661904" y="9509761"/>
                  </a:cubicBezTo>
                  <a:lnTo>
                    <a:pt x="219456" y="9509761"/>
                  </a:lnTo>
                  <a:cubicBezTo>
                    <a:pt x="98298" y="9509760"/>
                    <a:pt x="0" y="9411462"/>
                    <a:pt x="0" y="929030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34440" y="2198370"/>
            <a:ext cx="740664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E457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4440" y="3089910"/>
            <a:ext cx="7406640" cy="589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3412" indent="-211138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Domain shift: can fail on random internet photos (informal tests), since it learned one dataset's photo style</a:t>
            </a:r>
          </a:p>
          <a:p>
            <a:pPr algn="l" marL="633412" indent="-211138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Multi-source acquisition bias: image source can leak into what the model learns</a:t>
            </a:r>
          </a:p>
          <a:p>
            <a:pPr algn="l" marL="633412" indent="-211138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Rare, look-alike classes stay weak: actinic keratoses, melanoma, dermatofibroma, SCC</a:t>
            </a:r>
          </a:p>
          <a:p>
            <a:pPr algn="l" marL="633412" indent="-211138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Not a diagnostic tool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58300" y="2057400"/>
            <a:ext cx="8161020" cy="7132320"/>
            <a:chOff x="0" y="0"/>
            <a:chExt cx="10881360" cy="9509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81361" cy="9509761"/>
            </a:xfrm>
            <a:custGeom>
              <a:avLst/>
              <a:gdLst/>
              <a:ahLst/>
              <a:cxnLst/>
              <a:rect r="r" b="b" t="t" l="l"/>
              <a:pathLst>
                <a:path h="9509761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9290304"/>
                  </a:lnTo>
                  <a:cubicBezTo>
                    <a:pt x="10881361" y="9411462"/>
                    <a:pt x="10783062" y="9509761"/>
                    <a:pt x="10661904" y="9509761"/>
                  </a:cubicBezTo>
                  <a:lnTo>
                    <a:pt x="219456" y="9509761"/>
                  </a:lnTo>
                  <a:cubicBezTo>
                    <a:pt x="98298" y="9509760"/>
                    <a:pt x="0" y="9411462"/>
                    <a:pt x="0" y="929030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669780" y="2198370"/>
            <a:ext cx="740664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0B7A8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work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69780" y="3089910"/>
            <a:ext cx="7406640" cy="589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3412" indent="-211138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Data augmentation and more samples for rare classes</a:t>
            </a:r>
          </a:p>
          <a:p>
            <a:pPr algn="l" marL="633412" indent="-211138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Weighted or learned ensembling instead of equal weights</a:t>
            </a:r>
          </a:p>
          <a:p>
            <a:pPr algn="l" marL="633412" indent="-211138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Test on external datasets to measure domain shift</a:t>
            </a:r>
          </a:p>
          <a:p>
            <a:pPr algn="l" marL="633412" indent="-211138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Try larger pretrained backbones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24960" y="9570720"/>
            <a:ext cx="50292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737740" y="432473"/>
            <a:ext cx="829694" cy="1282617"/>
            <a:chOff x="0" y="0"/>
            <a:chExt cx="1106259" cy="171015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6297" cy="1710182"/>
            </a:xfrm>
            <a:custGeom>
              <a:avLst/>
              <a:gdLst/>
              <a:ahLst/>
              <a:cxnLst/>
              <a:rect r="r" b="b" t="t" l="l"/>
              <a:pathLst>
                <a:path h="1710182" w="1106297">
                  <a:moveTo>
                    <a:pt x="0" y="0"/>
                  </a:moveTo>
                  <a:lnTo>
                    <a:pt x="1106297" y="0"/>
                  </a:lnTo>
                  <a:lnTo>
                    <a:pt x="1106297" y="1710182"/>
                  </a:lnTo>
                  <a:lnTo>
                    <a:pt x="0" y="1710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0" t="0" r="-117" b="1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79281" y="6368577"/>
            <a:ext cx="8325355" cy="7191023"/>
          </a:xfrm>
          <a:custGeom>
            <a:avLst/>
            <a:gdLst/>
            <a:ahLst/>
            <a:cxnLst/>
            <a:rect r="r" b="b" t="t" l="l"/>
            <a:pathLst>
              <a:path h="7191023" w="8325355">
                <a:moveTo>
                  <a:pt x="0" y="0"/>
                </a:moveTo>
                <a:lnTo>
                  <a:pt x="8325355" y="0"/>
                </a:lnTo>
                <a:lnTo>
                  <a:pt x="8325355" y="7191023"/>
                </a:lnTo>
                <a:lnTo>
                  <a:pt x="0" y="7191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12" r="0" b="-21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727180" y="-2739742"/>
            <a:ext cx="8325355" cy="7191023"/>
          </a:xfrm>
          <a:custGeom>
            <a:avLst/>
            <a:gdLst/>
            <a:ahLst/>
            <a:cxnLst/>
            <a:rect r="r" b="b" t="t" l="l"/>
            <a:pathLst>
              <a:path h="7191023" w="8325355">
                <a:moveTo>
                  <a:pt x="8325355" y="7191022"/>
                </a:moveTo>
                <a:lnTo>
                  <a:pt x="0" y="7191022"/>
                </a:lnTo>
                <a:lnTo>
                  <a:pt x="0" y="0"/>
                </a:lnTo>
                <a:lnTo>
                  <a:pt x="8325355" y="0"/>
                </a:lnTo>
                <a:lnTo>
                  <a:pt x="8325355" y="7191022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12" r="0" b="-21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727180" y="1395270"/>
            <a:ext cx="4267152" cy="7496470"/>
            <a:chOff x="0" y="0"/>
            <a:chExt cx="5689536" cy="99952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9995281"/>
            </a:xfrm>
            <a:custGeom>
              <a:avLst/>
              <a:gdLst/>
              <a:ahLst/>
              <a:cxnLst/>
              <a:rect r="r" b="b" t="t" l="l"/>
              <a:pathLst>
                <a:path h="9995281" w="5689600">
                  <a:moveTo>
                    <a:pt x="1018286" y="0"/>
                  </a:moveTo>
                  <a:lnTo>
                    <a:pt x="4671187" y="0"/>
                  </a:lnTo>
                  <a:cubicBezTo>
                    <a:pt x="5233670" y="0"/>
                    <a:pt x="5689600" y="455930"/>
                    <a:pt x="5689600" y="1018286"/>
                  </a:cubicBezTo>
                  <a:lnTo>
                    <a:pt x="5689600" y="8976995"/>
                  </a:lnTo>
                  <a:cubicBezTo>
                    <a:pt x="5689600" y="9539351"/>
                    <a:pt x="5233670" y="9995281"/>
                    <a:pt x="4671314" y="9995281"/>
                  </a:cubicBezTo>
                  <a:lnTo>
                    <a:pt x="1018286" y="9995281"/>
                  </a:lnTo>
                  <a:cubicBezTo>
                    <a:pt x="455930" y="9995281"/>
                    <a:pt x="0" y="9539351"/>
                    <a:pt x="0" y="8976995"/>
                  </a:cubicBezTo>
                  <a:lnTo>
                    <a:pt x="0" y="1018286"/>
                  </a:lnTo>
                  <a:cubicBezTo>
                    <a:pt x="0" y="455930"/>
                    <a:pt x="455930" y="0"/>
                    <a:pt x="1018286" y="0"/>
                  </a:cubicBezTo>
                  <a:close/>
                </a:path>
              </a:pathLst>
            </a:custGeom>
            <a:blipFill>
              <a:blip r:embed="rId4"/>
              <a:stretch>
                <a:fillRect l="-82154" t="0" r="-8215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987421" y="3070565"/>
            <a:ext cx="8317297" cy="85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b="true" sz="8000" spc="-440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45705" y="4645981"/>
            <a:ext cx="7915142" cy="291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8640" indent="-182880" lvl="2">
              <a:lnSpc>
                <a:spcPts val="2878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Fully fine-tuned ResNet-18 reached 0.842 accuracy and 0.833 macro-F1</a:t>
            </a:r>
          </a:p>
          <a:p>
            <a:pPr algn="l" marL="548640" indent="-182880" lvl="2">
              <a:lnSpc>
                <a:spcPts val="2878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Frozen features and a scratch CNN both stayed near 0.6 accuracy</a:t>
            </a:r>
          </a:p>
          <a:p>
            <a:pPr algn="l" marL="548640" indent="-182880" lvl="2">
              <a:lnSpc>
                <a:spcPts val="2878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Main errors: nevi vs melanoma and other look-alike lesions</a:t>
            </a:r>
          </a:p>
          <a:p>
            <a:pPr algn="l" marL="548640" indent="-182880" lvl="2">
              <a:lnSpc>
                <a:spcPts val="2878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Next: rare-class data and external validation</a:t>
            </a:r>
          </a:p>
          <a:p>
            <a:pPr algn="l" marL="548640" indent="-182880" lvl="2">
              <a:lnSpc>
                <a:spcPts val="287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946386" y="8986980"/>
            <a:ext cx="7312914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u="sng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  <a:hlinkClick r:id="rId5" tooltip="https://github.com/Smarady67/skin-lesion-classification.git"/>
              </a:rPr>
              <a:t>github.com/Smarady67/</a:t>
            </a:r>
          </a:p>
          <a:p>
            <a:pPr algn="ctr">
              <a:lnSpc>
                <a:spcPts val="2700"/>
              </a:lnSpc>
            </a:pPr>
            <a:r>
              <a:rPr lang="en-US" sz="2250" u="sng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  <a:hlinkClick r:id="rId6" tooltip="https://github.com/Smarady67/skin-lesion-classification.git"/>
              </a:rPr>
              <a:t>skin-lesion-classification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737740" y="432473"/>
            <a:ext cx="829694" cy="1282617"/>
            <a:chOff x="0" y="0"/>
            <a:chExt cx="1106259" cy="17101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6297" cy="1710182"/>
            </a:xfrm>
            <a:custGeom>
              <a:avLst/>
              <a:gdLst/>
              <a:ahLst/>
              <a:cxnLst/>
              <a:rect r="r" b="b" t="t" l="l"/>
              <a:pathLst>
                <a:path h="1710182" w="1106297">
                  <a:moveTo>
                    <a:pt x="0" y="0"/>
                  </a:moveTo>
                  <a:lnTo>
                    <a:pt x="1106297" y="0"/>
                  </a:lnTo>
                  <a:lnTo>
                    <a:pt x="1106297" y="1710182"/>
                  </a:lnTo>
                  <a:lnTo>
                    <a:pt x="0" y="1710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20" t="0" r="-117" b="1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72916"/>
            <a:ext cx="16596360" cy="1241584"/>
            <a:chOff x="0" y="0"/>
            <a:chExt cx="22128480" cy="16554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458" r="0" b="-2104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Appendix A: per-class F1, fine-tuned ResNet</a:t>
              </a: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9777" y="905256"/>
            <a:ext cx="13825728" cy="9619488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13147352" y="2057400"/>
            <a:ext cx="4663440" cy="4663440"/>
            <a:chOff x="0" y="0"/>
            <a:chExt cx="6217920" cy="6217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17920" cy="6217920"/>
            </a:xfrm>
            <a:custGeom>
              <a:avLst/>
              <a:gdLst/>
              <a:ahLst/>
              <a:cxnLst/>
              <a:rect r="r" b="b" t="t" l="l"/>
              <a:pathLst>
                <a:path h="6217920" w="6217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998464" y="0"/>
                  </a:lnTo>
                  <a:cubicBezTo>
                    <a:pt x="6119622" y="0"/>
                    <a:pt x="6217920" y="98298"/>
                    <a:pt x="6217920" y="219456"/>
                  </a:cubicBezTo>
                  <a:lnTo>
                    <a:pt x="6217920" y="5998464"/>
                  </a:lnTo>
                  <a:cubicBezTo>
                    <a:pt x="6217920" y="6119622"/>
                    <a:pt x="6119622" y="6217920"/>
                    <a:pt x="5998464" y="6217920"/>
                  </a:cubicBezTo>
                  <a:lnTo>
                    <a:pt x="219456" y="6217920"/>
                  </a:lnTo>
                  <a:cubicBezTo>
                    <a:pt x="98298" y="6217920"/>
                    <a:pt x="0" y="6119622"/>
                    <a:pt x="0" y="599846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490252" y="2217420"/>
            <a:ext cx="397764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3C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Reading the chart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90252" y="3040380"/>
            <a:ext cx="3977640" cy="422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5059" indent="-158353" lvl="2">
              <a:lnSpc>
                <a:spcPts val="2700"/>
              </a:lnSpc>
              <a:buFont typeface="Arial"/>
              <a:buChar char="⚬"/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Coral: F1 below 0.70</a:t>
            </a:r>
          </a:p>
          <a:p>
            <a:pPr algn="l" marL="475059" indent="-158353" lvl="2">
              <a:lnSpc>
                <a:spcPts val="2700"/>
              </a:lnSpc>
              <a:buFont typeface="Arial"/>
              <a:buChar char="⚬"/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Weak classes are rare and look alike</a:t>
            </a:r>
          </a:p>
          <a:p>
            <a:pPr algn="l" marL="475059" indent="-158353" lvl="2">
              <a:lnSpc>
                <a:spcPts val="2700"/>
              </a:lnSpc>
              <a:buFont typeface="Arial"/>
              <a:buChar char="⚬"/>
            </a:pPr>
            <a:r>
              <a:rPr lang="en-US" sz="225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Viral classes: 0.96 to 0.99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24960" y="9570720"/>
            <a:ext cx="50292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737740" y="432473"/>
            <a:ext cx="829694" cy="1282617"/>
            <a:chOff x="0" y="0"/>
            <a:chExt cx="1106259" cy="171015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6297" cy="1710182"/>
            </a:xfrm>
            <a:custGeom>
              <a:avLst/>
              <a:gdLst/>
              <a:ahLst/>
              <a:cxnLst/>
              <a:rect r="r" b="b" t="t" l="l"/>
              <a:pathLst>
                <a:path h="1710182" w="1106297">
                  <a:moveTo>
                    <a:pt x="0" y="0"/>
                  </a:moveTo>
                  <a:lnTo>
                    <a:pt x="1106297" y="0"/>
                  </a:lnTo>
                  <a:lnTo>
                    <a:pt x="1106297" y="1710182"/>
                  </a:lnTo>
                  <a:lnTo>
                    <a:pt x="0" y="1710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0" t="0" r="-117" b="1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472916"/>
            <a:ext cx="16596360" cy="1241584"/>
            <a:chOff x="0" y="0"/>
            <a:chExt cx="22128480" cy="16554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458" r="0" b="-2104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2128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B3C4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Appendix B: misclassified examples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2194560"/>
            <a:ext cx="16596360" cy="3689604"/>
            <a:chOff x="0" y="0"/>
            <a:chExt cx="22128480" cy="4919472"/>
          </a:xfrm>
        </p:grpSpPr>
        <p:sp>
          <p:nvSpPr>
            <p:cNvPr name="Freeform 8" id="8" descr="Six actinic keratoses images misclassified by the fine-tuned model"/>
            <p:cNvSpPr/>
            <p:nvPr/>
          </p:nvSpPr>
          <p:spPr>
            <a:xfrm flipH="false" flipV="false" rot="0">
              <a:off x="0" y="0"/>
              <a:ext cx="22128480" cy="4919472"/>
            </a:xfrm>
            <a:custGeom>
              <a:avLst/>
              <a:gdLst/>
              <a:ahLst/>
              <a:cxnLst/>
              <a:rect r="r" b="b" t="t" l="l"/>
              <a:pathLst>
                <a:path h="4919472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4919472"/>
                  </a:lnTo>
                  <a:lnTo>
                    <a:pt x="0" y="4919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" t="0" r="-2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6446520"/>
            <a:ext cx="16596360" cy="2606040"/>
            <a:chOff x="0" y="0"/>
            <a:chExt cx="22128480" cy="3474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84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2212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09024" y="0"/>
                  </a:lnTo>
                  <a:cubicBezTo>
                    <a:pt x="22030182" y="0"/>
                    <a:pt x="22128480" y="98298"/>
                    <a:pt x="22128480" y="219456"/>
                  </a:cubicBezTo>
                  <a:lnTo>
                    <a:pt x="22128480" y="3255264"/>
                  </a:lnTo>
                  <a:cubicBezTo>
                    <a:pt x="22128480" y="3376422"/>
                    <a:pt x="22030182" y="3474720"/>
                    <a:pt x="21909024" y="3474720"/>
                  </a:cubicBezTo>
                  <a:lnTo>
                    <a:pt x="219456" y="3474720"/>
                  </a:lnTo>
                  <a:cubicBezTo>
                    <a:pt x="98298" y="3474720"/>
                    <a:pt x="0" y="3376422"/>
                    <a:pt x="0" y="3255264"/>
                  </a:cubicBezTo>
                  <a:close/>
                </a:path>
              </a:pathLst>
            </a:custGeom>
            <a:solidFill>
              <a:srgbClr val="EAF2F4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34440" y="6576060"/>
            <a:ext cx="15773400" cy="227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168910" lvl="2">
              <a:lnSpc>
                <a:spcPts val="2878"/>
              </a:lnSpc>
              <a:buFont typeface="Arial"/>
              <a:buChar char="⚬"/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All six shown are actinic keratoses, predicted as melanoma, squamous cell carcinoma, basal cell carcinoma or benign keratosis</a:t>
            </a:r>
          </a:p>
          <a:p>
            <a:pPr algn="l" marL="506730" indent="-168910" lvl="2">
              <a:lnSpc>
                <a:spcPts val="2878"/>
              </a:lnSpc>
              <a:buFont typeface="Arial"/>
              <a:buChar char="⚬"/>
            </a:pPr>
            <a:r>
              <a:rPr lang="en-US" sz="2400">
                <a:solidFill>
                  <a:srgbClr val="1B2A30"/>
                </a:solidFill>
                <a:latin typeface="Calibri (MS)"/>
                <a:ea typeface="Calibri (MS)"/>
                <a:cs typeface="Calibri (MS)"/>
                <a:sym typeface="Calibri (MS)"/>
              </a:rPr>
              <a:t>These classes share colour and texture, so even a strong model confuses them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24960" y="9570720"/>
            <a:ext cx="50292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B7F86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737740" y="432473"/>
            <a:ext cx="829694" cy="1282617"/>
            <a:chOff x="0" y="0"/>
            <a:chExt cx="1106259" cy="171015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6297" cy="1710182"/>
            </a:xfrm>
            <a:custGeom>
              <a:avLst/>
              <a:gdLst/>
              <a:ahLst/>
              <a:cxnLst/>
              <a:rect r="r" b="b" t="t" l="l"/>
              <a:pathLst>
                <a:path h="1710182" w="1106297">
                  <a:moveTo>
                    <a:pt x="0" y="0"/>
                  </a:moveTo>
                  <a:lnTo>
                    <a:pt x="1106297" y="0"/>
                  </a:lnTo>
                  <a:lnTo>
                    <a:pt x="1106297" y="1710182"/>
                  </a:lnTo>
                  <a:lnTo>
                    <a:pt x="0" y="1710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0" t="0" r="-117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DAHYXVku3h4</dc:identifier>
  <dcterms:modified xsi:type="dcterms:W3CDTF">2011-08-01T06:04:30Z</dcterms:modified>
  <cp:revision>1</cp:revision>
  <dc:title>Skin Lesion Classification</dc:title>
</cp:coreProperties>
</file>